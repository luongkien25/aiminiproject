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73" r:id="rId11"/>
    <p:sldId id="264" r:id="rId12"/>
    <p:sldId id="265" r:id="rId13"/>
    <p:sldId id="266" r:id="rId14"/>
    <p:sldId id="267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766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607040" cy="10972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Customer Review Sentiment and Issue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2468880"/>
            <a:ext cx="8961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0">
                <a:solidFill>
                  <a:srgbClr val="CCFBF1"/>
                </a:solidFill>
                <a:latin typeface="Arial"/>
              </a:rPr>
              <a:t>AI Mini Project - Phân loại bình luận Shopee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3794760"/>
            <a:ext cx="4480560" cy="914400"/>
          </a:xfrm>
          <a:prstGeom prst="roundRect">
            <a:avLst/>
          </a:prstGeom>
          <a:solidFill>
            <a:srgbClr val="1E405B"/>
          </a:solidFill>
          <a:ln w="12700">
            <a:solidFill>
              <a:srgbClr val="1E4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4050791"/>
            <a:ext cx="3931920" cy="3200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800" b="1" dirty="0" err="1">
                <a:solidFill>
                  <a:srgbClr val="FFFFFF"/>
                </a:solidFill>
                <a:latin typeface="Arial"/>
              </a:rPr>
              <a:t>Người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trình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bày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: </a:t>
            </a:r>
            <a:r>
              <a:rPr lang="en-US" b="1" dirty="0" err="1">
                <a:solidFill>
                  <a:srgbClr val="FFFFFF"/>
                </a:solidFill>
                <a:latin typeface="Arial"/>
              </a:rPr>
              <a:t>Lương</a:t>
            </a:r>
            <a:r>
              <a:rPr lang="en-US" b="1" dirty="0">
                <a:solidFill>
                  <a:srgbClr val="FFFFFF"/>
                </a:solidFill>
                <a:latin typeface="Arial"/>
              </a:rPr>
              <a:t> Đức Kiên</a:t>
            </a:r>
            <a:endParaRPr sz="18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5669280"/>
            <a:ext cx="1024128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E2E8F0"/>
                </a:solidFill>
                <a:latin typeface="Arial"/>
              </a:rPr>
              <a:t>Sentiment classification + issue classification for Vietnamese e-commerce reviews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 err="1">
                <a:solidFill>
                  <a:srgbClr val="142A41"/>
                </a:solidFill>
                <a:latin typeface="Arial"/>
              </a:rPr>
              <a:t>Tổng</a:t>
            </a:r>
            <a:r>
              <a:rPr lang="en-US" sz="2800" b="1" dirty="0">
                <a:solidFill>
                  <a:srgbClr val="142A41"/>
                </a:solidFill>
                <a:latin typeface="Arial"/>
              </a:rPr>
              <a:t> </a:t>
            </a:r>
            <a:r>
              <a:rPr lang="en-US" sz="2800" b="1" dirty="0" err="1">
                <a:solidFill>
                  <a:srgbClr val="142A41"/>
                </a:solidFill>
                <a:latin typeface="Arial"/>
              </a:rPr>
              <a:t>quan</a:t>
            </a:r>
            <a:endParaRPr sz="2800" b="1" dirty="0">
              <a:solidFill>
                <a:srgbClr val="142A41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Dự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án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xây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dựng</a:t>
            </a:r>
            <a:r>
              <a:rPr dirty="0">
                <a:latin typeface="Arial"/>
              </a:rPr>
              <a:t> pipeline </a:t>
            </a:r>
            <a:r>
              <a:rPr dirty="0" err="1">
                <a:latin typeface="Arial"/>
              </a:rPr>
              <a:t>học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máy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có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giám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sát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cho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bình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luận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khách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hàng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trên</a:t>
            </a:r>
            <a:r>
              <a:rPr dirty="0">
                <a:latin typeface="Arial"/>
              </a:rPr>
              <a:t> Shopee.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Bài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toán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gồm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hai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nhiệm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vụ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phân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loại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cảm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xúc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và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phân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loại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vấn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đề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chính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trong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bình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luận</a:t>
            </a:r>
            <a:r>
              <a:rPr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Pipeline </a:t>
            </a:r>
            <a:r>
              <a:rPr dirty="0" err="1">
                <a:latin typeface="Arial"/>
              </a:rPr>
              <a:t>sử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dụng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tiền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xử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lý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tiếng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Việt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đặc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trưng</a:t>
            </a:r>
            <a:r>
              <a:rPr dirty="0">
                <a:latin typeface="Arial"/>
              </a:rPr>
              <a:t> TF-IDF, baseline Naive Bayes, Linear SVM </a:t>
            </a:r>
            <a:r>
              <a:rPr dirty="0" err="1">
                <a:latin typeface="Arial"/>
              </a:rPr>
              <a:t>và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một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lớp</a:t>
            </a:r>
            <a:r>
              <a:rPr dirty="0">
                <a:latin typeface="Arial"/>
              </a:rPr>
              <a:t> rule an </a:t>
            </a:r>
            <a:r>
              <a:rPr dirty="0" err="1">
                <a:latin typeface="Arial"/>
              </a:rPr>
              <a:t>toàn</a:t>
            </a:r>
            <a:r>
              <a:rPr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Kết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quả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cuối</a:t>
            </a:r>
            <a:r>
              <a:rPr dirty="0">
                <a:latin typeface="Arial"/>
              </a:rPr>
              <a:t>: sentiment Accuracy 0.8318 / Macro F1 0.7993; issue Accuracy 0.7849 / Macro F1 0.7323.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n-US" sz="2800" b="1" dirty="0" err="1">
                <a:solidFill>
                  <a:srgbClr val="142A41"/>
                </a:solidFill>
                <a:latin typeface="Arial"/>
              </a:rPr>
              <a:t>Giới</a:t>
            </a:r>
            <a:r>
              <a:rPr lang="en-US" sz="2800" b="1" dirty="0">
                <a:solidFill>
                  <a:srgbClr val="142A41"/>
                </a:solidFill>
                <a:latin typeface="Arial"/>
              </a:rPr>
              <a:t> </a:t>
            </a:r>
            <a:r>
              <a:rPr lang="en-US" sz="2800" b="1" dirty="0" err="1">
                <a:solidFill>
                  <a:srgbClr val="142A41"/>
                </a:solidFill>
                <a:latin typeface="Arial"/>
              </a:rPr>
              <a:t>thiệu</a:t>
            </a:r>
            <a:endParaRPr sz="2800" b="1" dirty="0">
              <a:solidFill>
                <a:srgbClr val="142A41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3/15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Sàn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thương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mại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điện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tử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nhận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rất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nhiều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bình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luận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sản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phẩm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mỗi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ngày</a:t>
            </a:r>
            <a:r>
              <a:rPr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Bình </a:t>
            </a:r>
            <a:r>
              <a:rPr dirty="0" err="1">
                <a:latin typeface="Arial"/>
              </a:rPr>
              <a:t>luận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thường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không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có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mẫu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cố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định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có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teencode</a:t>
            </a:r>
            <a:r>
              <a:rPr dirty="0">
                <a:latin typeface="Arial"/>
              </a:rPr>
              <a:t>, emoji </a:t>
            </a:r>
            <a:r>
              <a:rPr dirty="0" err="1">
                <a:latin typeface="Arial"/>
              </a:rPr>
              <a:t>và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lỗi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chính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tả</a:t>
            </a:r>
            <a:r>
              <a:rPr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Phân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tích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thủ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công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tốn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thời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gian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và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khó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nhất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quán</a:t>
            </a:r>
            <a:r>
              <a:rPr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Mục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tiêu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của</a:t>
            </a:r>
            <a:r>
              <a:rPr dirty="0">
                <a:latin typeface="Arial"/>
              </a:rPr>
              <a:t> project: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Dự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đoán</a:t>
            </a:r>
            <a:r>
              <a:rPr dirty="0">
                <a:latin typeface="Arial"/>
              </a:rPr>
              <a:t> sentiment: positive, neutral, negative.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 lang="en-US" dirty="0">
                <a:latin typeface="Arial"/>
              </a:rPr>
              <a:t>• </a:t>
            </a:r>
            <a:r>
              <a:rPr lang="en-US" dirty="0" err="1">
                <a:latin typeface="Arial"/>
              </a:rPr>
              <a:t>Dự</a:t>
            </a:r>
            <a:r>
              <a:rPr lang="en-US"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đoán</a:t>
            </a:r>
            <a:r>
              <a:rPr lang="en-US" dirty="0">
                <a:latin typeface="Arial"/>
              </a:rPr>
              <a:t> issue </a:t>
            </a:r>
            <a:r>
              <a:rPr lang="en-US" dirty="0" err="1">
                <a:latin typeface="Arial"/>
              </a:rPr>
              <a:t>chính</a:t>
            </a:r>
            <a:r>
              <a:rPr lang="en-US" dirty="0">
                <a:latin typeface="Arial"/>
              </a:rPr>
              <a:t>: </a:t>
            </a:r>
            <a:r>
              <a:rPr lang="en-US" dirty="0" err="1">
                <a:latin typeface="Arial"/>
              </a:rPr>
              <a:t>no_issue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product_quality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product_attribute</a:t>
            </a:r>
            <a:r>
              <a:rPr lang="en-US" dirty="0">
                <a:latin typeface="Arial"/>
              </a:rPr>
              <a:t>, packaging, </a:t>
            </a:r>
            <a:r>
              <a:rPr lang="en-US" dirty="0" err="1">
                <a:latin typeface="Arial"/>
              </a:rPr>
              <a:t>wrong_missing_item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seller_service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spam_irrelevant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shipping_delivery</a:t>
            </a:r>
            <a:r>
              <a:rPr lang="en-US" dirty="0">
                <a:latin typeface="Arial"/>
              </a:rPr>
              <a:t>, </a:t>
            </a:r>
            <a:r>
              <a:rPr lang="en-US" dirty="0" err="1">
                <a:latin typeface="Arial"/>
              </a:rPr>
              <a:t>price_value</a:t>
            </a:r>
            <a:r>
              <a:rPr lang="en-US" dirty="0">
                <a:latin typeface="Arial"/>
              </a:rPr>
              <a:t>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Đây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là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bài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toán</a:t>
            </a:r>
            <a:r>
              <a:rPr dirty="0">
                <a:latin typeface="Arial"/>
              </a:rPr>
              <a:t> supervised text classification </a:t>
            </a:r>
            <a:r>
              <a:rPr dirty="0" err="1">
                <a:latin typeface="Arial"/>
              </a:rPr>
              <a:t>vì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dữ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liệu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huấn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luyện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đã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có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nhãn</a:t>
            </a:r>
            <a:r>
              <a:rPr dirty="0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Dataset and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Total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6508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Sentiment 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0664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Test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166534"/>
                </a:solidFill>
                <a:latin typeface="Arial"/>
              </a:rPr>
              <a:t>1302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514600"/>
            <a:ext cx="4663440" cy="2286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Sentiment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negative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971800"/>
            <a:ext cx="1920239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3366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03320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positive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749039"/>
            <a:ext cx="1040557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56325" y="3703320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1824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80560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neutral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4526280"/>
            <a:ext cx="751894" cy="12801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67662" y="4480560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1318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514600"/>
            <a:ext cx="5212080" cy="2286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/>
            <a:r>
              <a:rPr sz="1500" b="1">
                <a:solidFill>
                  <a:srgbClr val="142A41"/>
                </a:solidFill>
                <a:latin typeface="Arial"/>
              </a:rPr>
              <a:t>Top issue labels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926080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no_issue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971800"/>
            <a:ext cx="2468880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88167" y="2926080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392424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product_quality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3438144"/>
            <a:ext cx="24406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59911" y="3392424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2073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858768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product_attribute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3904488"/>
            <a:ext cx="892423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911711" y="3858768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758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4325112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wrong_missing_item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5279" y="4370832"/>
            <a:ext cx="568654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87942" y="4325112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483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791456"/>
            <a:ext cx="182880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Arial"/>
              </a:rPr>
              <a:t>packaging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4837176"/>
            <a:ext cx="477999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97287" y="4791456"/>
            <a:ext cx="68580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406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Main columns: review_text, cleaned_review, sentiment, issue, data_source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Rule-based classification: dễ giải thích và tốt với pattern rõ ràng, nhưng khó bao phủ hết trường hợp thực tế.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Bag-of-words và TF-IDF: cách biểu diễn văn bản phổ biến cho các mô hình học máy truyền thống.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Naive Bayes: baseline đơn giản, phù hợp để minh họa nguyên lý xác suất trong text classification.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t>• Linear SVM: mạnh nhất trong bản nộp với vector TF-IDF thưa.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Hybrid approach: mô hình học máy xử lý trường hợp tổng quát, rule sửa các pattern chắc chắn.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Method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6/15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1371600"/>
            <a:ext cx="2414016" cy="649224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1300" b="0" dirty="0">
                <a:solidFill>
                  <a:srgbClr val="0F172A"/>
                </a:solidFill>
                <a:latin typeface="Arial"/>
              </a:rPr>
              <a:t>Thu </a:t>
            </a:r>
            <a:r>
              <a:rPr sz="1300" b="0" dirty="0" err="1">
                <a:solidFill>
                  <a:srgbClr val="0F172A"/>
                </a:solidFill>
                <a:latin typeface="Arial"/>
              </a:rPr>
              <a:t>thập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rial"/>
              </a:rPr>
              <a:t>gán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0F172A"/>
                </a:solidFill>
                <a:latin typeface="Arial"/>
              </a:rPr>
              <a:t>nhãn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 review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(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đã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được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định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nghĩa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rõ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 err="1">
                <a:solidFill>
                  <a:srgbClr val="0F172A"/>
                </a:solidFill>
                <a:latin typeface="Arial"/>
              </a:rPr>
              <a:t>ràng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)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 </a:t>
            </a:r>
            <a:r>
              <a:rPr lang="en-US" sz="1300" b="0" dirty="0">
                <a:solidFill>
                  <a:srgbClr val="0F172A"/>
                </a:solidFill>
                <a:latin typeface="Arial"/>
              </a:rPr>
              <a:t>ở </a:t>
            </a:r>
            <a:r>
              <a:rPr sz="1300" b="0" dirty="0">
                <a:solidFill>
                  <a:srgbClr val="0F172A"/>
                </a:solidFill>
                <a:latin typeface="Arial"/>
              </a:rPr>
              <a:t>Shopee.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888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Tiền xử lý văn bản review.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23444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65592" y="141732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1371600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Chia train/test theo tỉ lệ 80/20 và stratify theo nhãn.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166534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Chuyển văn bản thành vector TF-IDF.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4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 dirty="0">
                <a:solidFill>
                  <a:srgbClr val="142A41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dirty="0"/>
              <a:t>Train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so</a:t>
            </a:r>
            <a:r>
              <a:rPr dirty="0"/>
              <a:t> </a:t>
            </a:r>
            <a:r>
              <a:rPr dirty="0" err="1"/>
              <a:t>sánh</a:t>
            </a:r>
            <a:r>
              <a:rPr dirty="0"/>
              <a:t> Naive Bayes </a:t>
            </a:r>
            <a:r>
              <a:rPr dirty="0" err="1"/>
              <a:t>với</a:t>
            </a:r>
            <a:r>
              <a:rPr dirty="0"/>
              <a:t> Linear SVM.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78892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65592" y="297180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67928" y="2926079"/>
            <a:ext cx="233172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Áp dụng safe issue rules cho các lỗi rõ ràng.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4343400"/>
            <a:ext cx="315468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16552" y="4526280"/>
            <a:ext cx="329184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8888" y="4480560"/>
            <a:ext cx="2331720" cy="50292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Arial"/>
              </a:rPr>
              <a:t>Đánh giá bằng Accuracy, Macro F1, classification report và confusion matrix.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06440"/>
            <a:ext cx="10515600" cy="29260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42A41"/>
                </a:solidFill>
                <a:latin typeface="Arial"/>
              </a:rPr>
              <a:t>Repeatable training and evaluation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Preprocessing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7/15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File tiền xử lý chính: src/preprocess.py.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Các bước chính: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Unicode và chuyển chữ thường.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Chuẩn hóa teencode thương mại điện tử như ko, k, dc, sp.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Xóa URL, emoji và ký tự nhiễu.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Giữ lại từ quan trọng như khong, chua, loi, cham, sai.</a:t>
            </a:r>
          </a:p>
          <a:p>
            <a:pPr>
              <a:defRPr sz="19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Đặc trưng: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Sentiment: TF-IDF unigram + bigram.</a:t>
            </a:r>
          </a:p>
          <a:p>
            <a:pPr lvl="1">
              <a:defRPr sz="16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Issue: TF-IDF word + character n-grams.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Models and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Baseline model: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Multinomial Naive Bayes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unigram + bigram đếm tần suất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Strong model: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TF-IDF + Linear SVM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Rule layer: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Safe issue rules cho các lỗi rõ ràng trong bài toán issue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Final models: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Sentiment: TF-IDF word unigram + bigram + Linear SVM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Issue: TF-IDF word/char n-grams + Linear SVM + safe issue rules</a:t>
            </a:r>
            <a:endParaRPr dirty="0">
              <a:latin typeface="Arial"/>
              <a:ea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Models and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Naive Bayes là mô hình phân loại dựa trên xác suất Bayes.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Ý tưởng: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Tính xác suất một review thuộc từng lớp.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Chọn lớp có xác suất lớn nhất.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Giả định các từ độc lập có điều kiện theo lớp.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Công thức: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en-US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Với Laplace smoothing: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en-US" dirty="0">
              <a:latin typeface="Arial"/>
              <a:ea typeface="Arial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4EFD0DE-EF9A-FEE2-10A0-11C2FC1F5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834544"/>
            <a:ext cx="2772162" cy="457264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3F3AFFD-284D-3142-6302-0AD8AE223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067" y="3566193"/>
            <a:ext cx="2229161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70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Models and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8/15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10698480" cy="5074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Linear SVM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Ý tưởng: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Mỗi review sau TF-IDF là một vector.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SVM học siêu phẳng để tách các lớp.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• Ưu tiên khoảng cách phân tách lớn nhất giữa các lớp.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Hàm điểm: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endParaRPr lang="vi-VN" dirty="0">
              <a:latin typeface="Arial"/>
              <a:ea typeface="Arial"/>
            </a:endParaRP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• Dự đoán:</a:t>
            </a:r>
          </a:p>
          <a:p>
            <a:pPr>
              <a:defRPr sz="1550">
                <a:solidFill>
                  <a:srgbClr val="0F172A"/>
                </a:solidFill>
                <a:latin typeface="Arial"/>
                <a:ea typeface="Arial"/>
              </a:defRPr>
            </a:pPr>
            <a:r>
              <a:rPr lang="vi-VN" dirty="0">
                <a:latin typeface="Arial"/>
                <a:ea typeface="Arial"/>
              </a:rPr>
              <a:t>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F074585-FAB2-CEF7-7DE2-E339F2A6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85" y="3071763"/>
            <a:ext cx="1152686" cy="23815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925F4F-6D50-5E89-8F32-1A2F7512E8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85" y="3620817"/>
            <a:ext cx="1143160" cy="285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177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42A41"/>
                </a:solidFill>
                <a:latin typeface="Arial"/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9/15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42976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Train/test split: 80/20, stratified by label.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Random state: 62.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Metric: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Accuracy </a:t>
            </a:r>
            <a:r>
              <a:rPr dirty="0" err="1">
                <a:latin typeface="Arial"/>
              </a:rPr>
              <a:t>đo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tỉ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lệ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dự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đoán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đúng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tổng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thể</a:t>
            </a:r>
            <a:r>
              <a:rPr dirty="0">
                <a:latin typeface="Arial"/>
              </a:rPr>
              <a:t>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Macro F1 </a:t>
            </a:r>
            <a:r>
              <a:rPr dirty="0" err="1">
                <a:latin typeface="Arial"/>
              </a:rPr>
              <a:t>đo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chất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lượng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bình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trên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các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lớp</a:t>
            </a:r>
            <a:r>
              <a:rPr dirty="0">
                <a:latin typeface="Arial"/>
              </a:rPr>
              <a:t>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Sentiment best: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TF-IDF unigram + bigram + Linear SVM.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57800" y="1417320"/>
          <a:ext cx="62179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Best configuration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unigram + bigram + Linear SVM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0.8318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0.7993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ML-only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TF-IDF word + char + Linear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final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Linear SVM + safe issue rules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0.7849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0.7323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NB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From-scratch unigram + bigram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0.6997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303520" y="4069080"/>
            <a:ext cx="598932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32120" y="4279392"/>
            <a:ext cx="1280160" cy="2286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1300" b="1">
                <a:solidFill>
                  <a:srgbClr val="142A41"/>
                </a:solidFill>
                <a:latin typeface="Arial"/>
              </a:rPr>
              <a:t>Takeaway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4572000"/>
            <a:ext cx="5303520" cy="4114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400" b="0">
                <a:solidFill>
                  <a:srgbClr val="0F172A"/>
                </a:solidFill>
                <a:latin typeface="Arial"/>
              </a:rPr>
              <a:t>Linear SVM is the strongest model for sparse TF-IDF vectors. Safe rules add value only for clear issue patterns.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Sentiment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10/15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0.8318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0.7993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Best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SVM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F1 theo lớp: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negative: 0.89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neutral: 0.66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positive: 0.85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Lớp khó nhất là neutral vì nhiều bình luận nằm giữa khen nhẹ, chê nhẹ hoặc chỉ nhận xu.</a:t>
            </a:r>
          </a:p>
        </p:txBody>
      </p:sp>
      <p:pic>
        <p:nvPicPr>
          <p:cNvPr id="16" name="Picture 15" descr="confusion_matrix_sent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97018"/>
            <a:ext cx="5257800" cy="375557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Issue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11/15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Arial"/>
              </a:rPr>
              <a:t>0.7849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036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1752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0F766E"/>
                </a:solidFill>
                <a:latin typeface="Arial"/>
              </a:rPr>
              <a:t>0.7323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4920" y="1143000"/>
            <a:ext cx="2011680" cy="914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0" y="1280160"/>
            <a:ext cx="1737360" cy="201168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1000" b="1">
                <a:solidFill>
                  <a:srgbClr val="475569"/>
                </a:solidFill>
                <a:latin typeface="Arial"/>
              </a:rPr>
              <a:t>Issue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527048"/>
            <a:ext cx="1737360" cy="34747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400" b="1">
                <a:solidFill>
                  <a:srgbClr val="D97706"/>
                </a:solidFill>
                <a:latin typeface="Arial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4480560" cy="3291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Nhóm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có</a:t>
            </a:r>
            <a:r>
              <a:rPr dirty="0">
                <a:latin typeface="Arial"/>
              </a:rPr>
              <a:t> F1 </a:t>
            </a:r>
            <a:r>
              <a:rPr dirty="0" err="1">
                <a:latin typeface="Arial"/>
              </a:rPr>
              <a:t>tốt</a:t>
            </a:r>
            <a:r>
              <a:rPr dirty="0">
                <a:latin typeface="Arial"/>
              </a:rPr>
              <a:t>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no_issue</a:t>
            </a:r>
            <a:r>
              <a:rPr dirty="0">
                <a:latin typeface="Arial"/>
              </a:rPr>
              <a:t>: 0.86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product_quality</a:t>
            </a:r>
            <a:r>
              <a:rPr dirty="0">
                <a:latin typeface="Arial"/>
              </a:rPr>
              <a:t>: 0.80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seller_service</a:t>
            </a:r>
            <a:r>
              <a:rPr dirty="0">
                <a:latin typeface="Arial"/>
              </a:rPr>
              <a:t>: 0.81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wrong_missing_item</a:t>
            </a:r>
            <a:r>
              <a:rPr dirty="0">
                <a:latin typeface="Arial"/>
              </a:rPr>
              <a:t>: 0.79</a:t>
            </a:r>
          </a:p>
          <a:p>
            <a:pPr>
              <a:defRPr sz="16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Nhóm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còn</a:t>
            </a:r>
            <a:r>
              <a:rPr dirty="0">
                <a:latin typeface="Arial"/>
              </a:rPr>
              <a:t> </a:t>
            </a:r>
            <a:r>
              <a:rPr lang="en-US" dirty="0" err="1">
                <a:latin typeface="Arial"/>
              </a:rPr>
              <a:t>yếu</a:t>
            </a:r>
            <a:r>
              <a:rPr dirty="0">
                <a:latin typeface="Arial"/>
              </a:rPr>
              <a:t>: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product_attribute</a:t>
            </a:r>
            <a:r>
              <a:rPr dirty="0">
                <a:latin typeface="Arial"/>
              </a:rPr>
              <a:t>: 0.59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spam_irrelevant</a:t>
            </a:r>
            <a:r>
              <a:rPr dirty="0">
                <a:latin typeface="Arial"/>
              </a:rPr>
              <a:t>: 0.60</a:t>
            </a:r>
          </a:p>
          <a:p>
            <a:pPr lvl="1">
              <a:defRPr sz="14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price_value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ít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mẫu</a:t>
            </a:r>
            <a:r>
              <a:rPr dirty="0">
                <a:latin typeface="Arial"/>
              </a:rPr>
              <a:t>, F1 0.67</a:t>
            </a:r>
          </a:p>
        </p:txBody>
      </p:sp>
      <p:pic>
        <p:nvPicPr>
          <p:cNvPr id="16" name="Picture 15" descr="confusion_matrix_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040" y="2113878"/>
            <a:ext cx="5760720" cy="47441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12/15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Sentiment: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neutral thường bị dự đoán thành negative.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positive bị dự đoán thành neutral.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Issue: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product_quality và product_attribute dễ nhầm với nhau.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số no_issue bị nhầm sang issue liên quan đến sản phẩm.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>
                <a:latin typeface="Arial"/>
              </a:rPr>
              <a:t>• Nguyên nhân: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Review ngắn và thiếu ngữ cảnh.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Cách viết informal, nhiều biến thể.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Một review có thể chứa nhiều vấn đề.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>
                <a:latin typeface="Arial"/>
              </a:rPr>
              <a:t>• Bài toán issue hiện là single-label nên chỉ chọn một issue chính.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14/15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1069848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685800" cy="2743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8686800" cy="32004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/>
            <a:r>
              <a:rPr sz="2100" b="1">
                <a:solidFill>
                  <a:srgbClr val="142A41"/>
                </a:solidFill>
                <a:latin typeface="Consolas"/>
              </a:rPr>
              <a:t>shop giao cham, hop bi mop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325880" y="2743200"/>
          <a:ext cx="950976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23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4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Processed 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shop giao cham hop bi mop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negative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Sentiment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clear_negative_rule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Issue 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packaging_priority_rule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325880" y="5486400"/>
            <a:ext cx="95097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/>
              </a:rPr>
              <a:t>The rule layer reinforces clear complaints such as slow delivery or damaged packaging.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50976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42A41"/>
                </a:solidFill>
                <a:latin typeface="Arial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347472"/>
            <a:ext cx="685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2011680" cy="1828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l"/>
            <a:r>
              <a:rPr sz="900" b="0">
                <a:solidFill>
                  <a:srgbClr val="475569"/>
                </a:solidFill>
                <a:latin typeface="Arial"/>
              </a:rPr>
              <a:t>AIMiniProject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30352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143000"/>
            <a:ext cx="5257800" cy="4892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17320"/>
            <a:ext cx="475488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Project </a:t>
            </a:r>
            <a:r>
              <a:rPr dirty="0" err="1">
                <a:latin typeface="Arial"/>
              </a:rPr>
              <a:t>đã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xây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dựng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một</a:t>
            </a:r>
            <a:r>
              <a:rPr dirty="0">
                <a:latin typeface="Arial"/>
              </a:rPr>
              <a:t> pipeline </a:t>
            </a:r>
            <a:r>
              <a:rPr dirty="0" err="1">
                <a:latin typeface="Arial"/>
              </a:rPr>
              <a:t>hoàn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chỉnh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để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phân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loại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bình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luận</a:t>
            </a:r>
            <a:r>
              <a:rPr dirty="0">
                <a:latin typeface="Arial"/>
              </a:rPr>
              <a:t> Shopee.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TF-IDF + Linear SVM </a:t>
            </a:r>
            <a:r>
              <a:rPr dirty="0" err="1">
                <a:latin typeface="Arial"/>
              </a:rPr>
              <a:t>hoạt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động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tốt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cho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cả</a:t>
            </a:r>
            <a:r>
              <a:rPr dirty="0">
                <a:latin typeface="Arial"/>
              </a:rPr>
              <a:t> sentiment </a:t>
            </a:r>
            <a:r>
              <a:rPr dirty="0" err="1">
                <a:latin typeface="Arial"/>
              </a:rPr>
              <a:t>và</a:t>
            </a:r>
            <a:r>
              <a:rPr dirty="0">
                <a:latin typeface="Arial"/>
              </a:rPr>
              <a:t> issue classification.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Safe issue rules </a:t>
            </a:r>
            <a:r>
              <a:rPr dirty="0" err="1">
                <a:latin typeface="Arial"/>
              </a:rPr>
              <a:t>giúp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cải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thiện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kết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quả</a:t>
            </a:r>
            <a:r>
              <a:rPr dirty="0">
                <a:latin typeface="Arial"/>
              </a:rPr>
              <a:t> issue classification </a:t>
            </a:r>
            <a:r>
              <a:rPr dirty="0" err="1">
                <a:latin typeface="Arial"/>
              </a:rPr>
              <a:t>cuối</a:t>
            </a:r>
            <a:r>
              <a:rPr dirty="0">
                <a:latin typeface="Arial"/>
              </a:rPr>
              <a:t>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Giới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hạn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hiện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tại</a:t>
            </a:r>
            <a:r>
              <a:rPr dirty="0">
                <a:latin typeface="Arial"/>
              </a:rPr>
              <a:t>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Issue </a:t>
            </a:r>
            <a:r>
              <a:rPr dirty="0" err="1">
                <a:latin typeface="Arial"/>
              </a:rPr>
              <a:t>đang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là</a:t>
            </a:r>
            <a:r>
              <a:rPr dirty="0">
                <a:latin typeface="Arial"/>
              </a:rPr>
              <a:t> single-label.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Một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số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lớp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có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ít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dữ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liệu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417320"/>
            <a:ext cx="4663440" cy="4297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Neutral sentiment </a:t>
            </a:r>
            <a:r>
              <a:rPr dirty="0" err="1">
                <a:latin typeface="Arial"/>
              </a:rPr>
              <a:t>vẫn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khó</a:t>
            </a:r>
            <a:r>
              <a:rPr dirty="0">
                <a:latin typeface="Arial"/>
              </a:rPr>
              <a:t>.</a:t>
            </a:r>
          </a:p>
          <a:p>
            <a:pPr>
              <a:defRPr sz="1700">
                <a:solidFill>
                  <a:srgbClr val="0F172A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Hướng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phát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triển</a:t>
            </a:r>
            <a:r>
              <a:rPr dirty="0">
                <a:latin typeface="Arial"/>
              </a:rPr>
              <a:t>: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Bổ</a:t>
            </a:r>
            <a:r>
              <a:rPr dirty="0">
                <a:latin typeface="Arial"/>
              </a:rPr>
              <a:t> sung </a:t>
            </a:r>
            <a:r>
              <a:rPr dirty="0" err="1">
                <a:latin typeface="Arial"/>
              </a:rPr>
              <a:t>dữ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liệu</a:t>
            </a:r>
            <a:r>
              <a:rPr dirty="0">
                <a:latin typeface="Arial"/>
              </a:rPr>
              <a:t> review </a:t>
            </a:r>
            <a:r>
              <a:rPr dirty="0" err="1">
                <a:latin typeface="Arial"/>
              </a:rPr>
              <a:t>thủ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công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cho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lớp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nhỏ</a:t>
            </a:r>
            <a:r>
              <a:rPr dirty="0">
                <a:latin typeface="Arial"/>
              </a:rPr>
              <a:t>.</a:t>
            </a:r>
          </a:p>
          <a:p>
            <a:pPr lvl="1">
              <a:defRPr sz="1500">
                <a:solidFill>
                  <a:srgbClr val="475569"/>
                </a:solidFill>
                <a:latin typeface="Arial"/>
              </a:defRPr>
            </a:pPr>
            <a:r>
              <a:rPr dirty="0">
                <a:latin typeface="Arial"/>
              </a:rPr>
              <a:t>• </a:t>
            </a:r>
            <a:r>
              <a:rPr dirty="0" err="1">
                <a:latin typeface="Arial"/>
              </a:rPr>
              <a:t>Mở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rộng</a:t>
            </a:r>
            <a:r>
              <a:rPr dirty="0">
                <a:latin typeface="Arial"/>
              </a:rPr>
              <a:t> sang multi-label issue prediction.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1327</Words>
  <Application>Microsoft Office PowerPoint</Application>
  <PresentationFormat>Widescreen</PresentationFormat>
  <Paragraphs>242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Đức Kiên</cp:lastModifiedBy>
  <cp:revision>5</cp:revision>
  <dcterms:created xsi:type="dcterms:W3CDTF">2013-01-27T09:14:16Z</dcterms:created>
  <dcterms:modified xsi:type="dcterms:W3CDTF">2026-05-19T15:39:06Z</dcterms:modified>
  <cp:category/>
</cp:coreProperties>
</file>