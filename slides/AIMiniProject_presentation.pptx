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71" r:id="rId10"/>
    <p:sldId id="275" r:id="rId11"/>
    <p:sldId id="276" r:id="rId12"/>
    <p:sldId id="273" r:id="rId13"/>
    <p:sldId id="264" r:id="rId14"/>
    <p:sldId id="265" r:id="rId15"/>
    <p:sldId id="266" r:id="rId16"/>
    <p:sldId id="267" r:id="rId17"/>
    <p:sldId id="269" r:id="rId18"/>
    <p:sldId id="277" r:id="rId19"/>
    <p:sldId id="27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A41"/>
        </a:solidFill>
        <a:effectLst/>
      </p:bgPr>
    </p:bg>
    <p:spTree>
      <p:nvGrpSpPr>
        <p:cNvPr id="1" name=""/>
        <p:cNvGrpSpPr/>
        <p:nvPr/>
      </p:nvGrpSpPr>
      <p:grpSpPr>
        <a:xfrm>
          <a:off x="0" y="0"/>
          <a:ext cx="0" cy="0"/>
          <a:chOff x="0" y="0"/>
          <a:chExt cx="0" cy="0"/>
        </a:xfrm>
      </p:grpSpPr>
      <p:sp>
        <p:nvSpPr>
          <p:cNvPr id="2" name="Rectangle 1"/>
          <p:cNvSpPr/>
          <p:nvPr/>
        </p:nvSpPr>
        <p:spPr>
          <a:xfrm>
            <a:off x="0" y="6355080"/>
            <a:ext cx="12191695" cy="502920"/>
          </a:xfrm>
          <a:prstGeom prst="rect">
            <a:avLst/>
          </a:prstGeom>
          <a:solidFill>
            <a:srgbClr val="0F766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25880"/>
            <a:ext cx="10607040" cy="1097280"/>
          </a:xfrm>
          <a:prstGeom prst="rect">
            <a:avLst/>
          </a:prstGeom>
          <a:noFill/>
        </p:spPr>
        <p:txBody>
          <a:bodyPr wrap="square">
            <a:normAutofit fontScale="92500" lnSpcReduction="10000"/>
          </a:bodyPr>
          <a:lstStyle/>
          <a:p>
            <a:pPr algn="l"/>
            <a:r>
              <a:rPr sz="3800" b="1">
                <a:solidFill>
                  <a:srgbClr val="FFFFFF"/>
                </a:solidFill>
                <a:latin typeface="Arial"/>
              </a:rPr>
              <a:t>Customer Review Sentiment and Issue Classification</a:t>
            </a:r>
          </a:p>
        </p:txBody>
      </p:sp>
      <p:sp>
        <p:nvSpPr>
          <p:cNvPr id="4" name="TextBox 3"/>
          <p:cNvSpPr txBox="1"/>
          <p:nvPr/>
        </p:nvSpPr>
        <p:spPr>
          <a:xfrm>
            <a:off x="749808" y="2468880"/>
            <a:ext cx="8961120" cy="411480"/>
          </a:xfrm>
          <a:prstGeom prst="rect">
            <a:avLst/>
          </a:prstGeom>
          <a:noFill/>
        </p:spPr>
        <p:txBody>
          <a:bodyPr wrap="square">
            <a:normAutofit/>
          </a:bodyPr>
          <a:lstStyle/>
          <a:p>
            <a:pPr algn="l"/>
            <a:r>
              <a:rPr sz="2000" b="0" dirty="0">
                <a:solidFill>
                  <a:srgbClr val="CCFBF1"/>
                </a:solidFill>
                <a:latin typeface="Arial"/>
              </a:rPr>
              <a:t>AI Mini Project - </a:t>
            </a:r>
            <a:r>
              <a:rPr sz="2000" b="0" dirty="0" err="1">
                <a:solidFill>
                  <a:srgbClr val="CCFBF1"/>
                </a:solidFill>
                <a:latin typeface="Arial"/>
              </a:rPr>
              <a:t>Phân</a:t>
            </a:r>
            <a:r>
              <a:rPr sz="2000" b="0" dirty="0">
                <a:solidFill>
                  <a:srgbClr val="CCFBF1"/>
                </a:solidFill>
                <a:latin typeface="Arial"/>
              </a:rPr>
              <a:t> </a:t>
            </a:r>
            <a:r>
              <a:rPr sz="2000" b="0" dirty="0" err="1">
                <a:solidFill>
                  <a:srgbClr val="CCFBF1"/>
                </a:solidFill>
                <a:latin typeface="Arial"/>
              </a:rPr>
              <a:t>loại</a:t>
            </a:r>
            <a:r>
              <a:rPr sz="2000" b="0" dirty="0">
                <a:solidFill>
                  <a:srgbClr val="CCFBF1"/>
                </a:solidFill>
                <a:latin typeface="Arial"/>
              </a:rPr>
              <a:t> </a:t>
            </a:r>
            <a:r>
              <a:rPr sz="2000" b="0" dirty="0" err="1">
                <a:solidFill>
                  <a:srgbClr val="CCFBF1"/>
                </a:solidFill>
                <a:latin typeface="Arial"/>
              </a:rPr>
              <a:t>bình</a:t>
            </a:r>
            <a:r>
              <a:rPr sz="2000" b="0" dirty="0">
                <a:solidFill>
                  <a:srgbClr val="CCFBF1"/>
                </a:solidFill>
                <a:latin typeface="Arial"/>
              </a:rPr>
              <a:t> </a:t>
            </a:r>
            <a:r>
              <a:rPr sz="2000" b="0" dirty="0" err="1">
                <a:solidFill>
                  <a:srgbClr val="CCFBF1"/>
                </a:solidFill>
                <a:latin typeface="Arial"/>
              </a:rPr>
              <a:t>luận</a:t>
            </a:r>
            <a:r>
              <a:rPr sz="2000" b="0" dirty="0">
                <a:solidFill>
                  <a:srgbClr val="CCFBF1"/>
                </a:solidFill>
                <a:latin typeface="Arial"/>
              </a:rPr>
              <a:t> Shopee</a:t>
            </a:r>
          </a:p>
        </p:txBody>
      </p:sp>
      <p:sp>
        <p:nvSpPr>
          <p:cNvPr id="5" name="Rounded Rectangle 4"/>
          <p:cNvSpPr/>
          <p:nvPr/>
        </p:nvSpPr>
        <p:spPr>
          <a:xfrm>
            <a:off x="749808" y="3794760"/>
            <a:ext cx="4480560" cy="914400"/>
          </a:xfrm>
          <a:prstGeom prst="roundRect">
            <a:avLst/>
          </a:prstGeom>
          <a:solidFill>
            <a:srgbClr val="1E405B"/>
          </a:solidFill>
          <a:ln w="12700">
            <a:solidFill>
              <a:srgbClr val="1E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4050791"/>
            <a:ext cx="3931920" cy="320040"/>
          </a:xfrm>
          <a:prstGeom prst="rect">
            <a:avLst/>
          </a:prstGeom>
          <a:noFill/>
        </p:spPr>
        <p:txBody>
          <a:bodyPr wrap="square">
            <a:normAutofit fontScale="92500" lnSpcReduction="20000"/>
          </a:bodyPr>
          <a:lstStyle/>
          <a:p>
            <a:pPr algn="l"/>
            <a:r>
              <a:rPr sz="1800" b="1" dirty="0" err="1">
                <a:solidFill>
                  <a:srgbClr val="FFFFFF"/>
                </a:solidFill>
                <a:latin typeface="Arial"/>
              </a:rPr>
              <a:t>Người</a:t>
            </a:r>
            <a:r>
              <a:rPr sz="1800" b="1" dirty="0">
                <a:solidFill>
                  <a:srgbClr val="FFFFFF"/>
                </a:solidFill>
                <a:latin typeface="Arial"/>
              </a:rPr>
              <a:t> </a:t>
            </a:r>
            <a:r>
              <a:rPr sz="1800" b="1" dirty="0" err="1">
                <a:solidFill>
                  <a:srgbClr val="FFFFFF"/>
                </a:solidFill>
                <a:latin typeface="Arial"/>
              </a:rPr>
              <a:t>trình</a:t>
            </a:r>
            <a:r>
              <a:rPr sz="1800" b="1" dirty="0">
                <a:solidFill>
                  <a:srgbClr val="FFFFFF"/>
                </a:solidFill>
                <a:latin typeface="Arial"/>
              </a:rPr>
              <a:t> </a:t>
            </a:r>
            <a:r>
              <a:rPr sz="1800" b="1" dirty="0" err="1">
                <a:solidFill>
                  <a:srgbClr val="FFFFFF"/>
                </a:solidFill>
                <a:latin typeface="Arial"/>
              </a:rPr>
              <a:t>bày</a:t>
            </a:r>
            <a:r>
              <a:rPr sz="1800" b="1" dirty="0">
                <a:solidFill>
                  <a:srgbClr val="FFFFFF"/>
                </a:solidFill>
                <a:latin typeface="Arial"/>
              </a:rPr>
              <a:t>: </a:t>
            </a:r>
            <a:r>
              <a:rPr lang="en-US" b="1" dirty="0" err="1">
                <a:solidFill>
                  <a:srgbClr val="FFFFFF"/>
                </a:solidFill>
                <a:latin typeface="Arial"/>
              </a:rPr>
              <a:t>Lương</a:t>
            </a:r>
            <a:r>
              <a:rPr lang="en-US" b="1" dirty="0">
                <a:solidFill>
                  <a:srgbClr val="FFFFFF"/>
                </a:solidFill>
                <a:latin typeface="Arial"/>
              </a:rPr>
              <a:t> Đức Kiên</a:t>
            </a:r>
            <a:endParaRPr sz="1800" b="1" dirty="0">
              <a:solidFill>
                <a:srgbClr val="FFFFFF"/>
              </a:solidFill>
              <a:latin typeface="Arial"/>
            </a:endParaRPr>
          </a:p>
        </p:txBody>
      </p:sp>
      <p:sp>
        <p:nvSpPr>
          <p:cNvPr id="7" name="TextBox 6"/>
          <p:cNvSpPr txBox="1"/>
          <p:nvPr/>
        </p:nvSpPr>
        <p:spPr>
          <a:xfrm>
            <a:off x="749808" y="5669280"/>
            <a:ext cx="10241280" cy="365760"/>
          </a:xfrm>
          <a:prstGeom prst="rect">
            <a:avLst/>
          </a:prstGeom>
          <a:noFill/>
        </p:spPr>
        <p:txBody>
          <a:bodyPr wrap="square">
            <a:normAutofit/>
          </a:bodyPr>
          <a:lstStyle/>
          <a:p>
            <a:pPr algn="l"/>
            <a:r>
              <a:rPr sz="1400" b="0">
                <a:solidFill>
                  <a:srgbClr val="E2E8F0"/>
                </a:solidFill>
                <a:latin typeface="Arial"/>
              </a:rPr>
              <a:t>Sentiment classification + issue classification for Vietnamese e-commerce reviews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lang="en-US" sz="2800" b="1" dirty="0" err="1">
                <a:solidFill>
                  <a:srgbClr val="142A41"/>
                </a:solidFill>
                <a:latin typeface="Arial"/>
              </a:rPr>
              <a:t>Tổng</a:t>
            </a:r>
            <a:r>
              <a:rPr lang="en-US" sz="2800" b="1" dirty="0">
                <a:solidFill>
                  <a:srgbClr val="142A41"/>
                </a:solidFill>
                <a:latin typeface="Arial"/>
              </a:rPr>
              <a:t> </a:t>
            </a:r>
            <a:r>
              <a:rPr lang="en-US" sz="2800" b="1" dirty="0" err="1">
                <a:solidFill>
                  <a:srgbClr val="142A41"/>
                </a:solidFill>
                <a:latin typeface="Arial"/>
              </a:rPr>
              <a:t>quan</a:t>
            </a:r>
            <a:endParaRPr sz="2800" b="1" dirty="0">
              <a:solidFill>
                <a:srgbClr val="142A41"/>
              </a:solidFill>
              <a:latin typeface="Arial"/>
            </a:endParaRP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2/15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TextBox 5"/>
          <p:cNvSpPr txBox="1"/>
          <p:nvPr/>
        </p:nvSpPr>
        <p:spPr>
          <a:xfrm>
            <a:off x="777240" y="1143000"/>
            <a:ext cx="10698480" cy="5074920"/>
          </a:xfrm>
          <a:prstGeom prst="rect">
            <a:avLst/>
          </a:prstGeom>
          <a:noFill/>
        </p:spPr>
        <p:txBody>
          <a:bodyPr wrap="square">
            <a:normAutofit/>
          </a:bodyPr>
          <a:lstStyle/>
          <a:p>
            <a:pPr>
              <a:defRPr sz="1900">
                <a:solidFill>
                  <a:srgbClr val="0F172A"/>
                </a:solidFill>
                <a:latin typeface="Arial"/>
              </a:defRPr>
            </a:pPr>
            <a:r>
              <a:rPr dirty="0">
                <a:latin typeface="Arial"/>
              </a:rPr>
              <a:t>• </a:t>
            </a:r>
            <a:r>
              <a:rPr dirty="0" err="1">
                <a:latin typeface="Arial"/>
              </a:rPr>
              <a:t>Dự</a:t>
            </a:r>
            <a:r>
              <a:rPr dirty="0">
                <a:latin typeface="Arial"/>
              </a:rPr>
              <a:t> </a:t>
            </a:r>
            <a:r>
              <a:rPr dirty="0" err="1">
                <a:latin typeface="Arial"/>
              </a:rPr>
              <a:t>án</a:t>
            </a:r>
            <a:r>
              <a:rPr dirty="0">
                <a:latin typeface="Arial"/>
              </a:rPr>
              <a:t> </a:t>
            </a:r>
            <a:r>
              <a:rPr dirty="0" err="1">
                <a:latin typeface="Arial"/>
              </a:rPr>
              <a:t>xây</a:t>
            </a:r>
            <a:r>
              <a:rPr dirty="0">
                <a:latin typeface="Arial"/>
              </a:rPr>
              <a:t> </a:t>
            </a:r>
            <a:r>
              <a:rPr dirty="0" err="1">
                <a:latin typeface="Arial"/>
              </a:rPr>
              <a:t>dựng</a:t>
            </a:r>
            <a:r>
              <a:rPr dirty="0">
                <a:latin typeface="Arial"/>
              </a:rPr>
              <a:t> pipeline </a:t>
            </a:r>
            <a:r>
              <a:rPr dirty="0" err="1">
                <a:latin typeface="Arial"/>
              </a:rPr>
              <a:t>học</a:t>
            </a:r>
            <a:r>
              <a:rPr dirty="0">
                <a:latin typeface="Arial"/>
              </a:rPr>
              <a:t> </a:t>
            </a:r>
            <a:r>
              <a:rPr dirty="0" err="1">
                <a:latin typeface="Arial"/>
              </a:rPr>
              <a:t>máy</a:t>
            </a:r>
            <a:r>
              <a:rPr dirty="0">
                <a:latin typeface="Arial"/>
              </a:rPr>
              <a:t> </a:t>
            </a:r>
            <a:r>
              <a:rPr dirty="0" err="1">
                <a:latin typeface="Arial"/>
              </a:rPr>
              <a:t>có</a:t>
            </a:r>
            <a:r>
              <a:rPr dirty="0">
                <a:latin typeface="Arial"/>
              </a:rPr>
              <a:t> </a:t>
            </a:r>
            <a:r>
              <a:rPr dirty="0" err="1">
                <a:latin typeface="Arial"/>
              </a:rPr>
              <a:t>giám</a:t>
            </a:r>
            <a:r>
              <a:rPr dirty="0">
                <a:latin typeface="Arial"/>
              </a:rPr>
              <a:t> </a:t>
            </a:r>
            <a:r>
              <a:rPr dirty="0" err="1">
                <a:latin typeface="Arial"/>
              </a:rPr>
              <a:t>sát</a:t>
            </a:r>
            <a:r>
              <a:rPr dirty="0">
                <a:latin typeface="Arial"/>
              </a:rPr>
              <a:t> </a:t>
            </a:r>
            <a:r>
              <a:rPr dirty="0" err="1">
                <a:latin typeface="Arial"/>
              </a:rPr>
              <a:t>cho</a:t>
            </a:r>
            <a:r>
              <a:rPr dirty="0">
                <a:latin typeface="Arial"/>
              </a:rPr>
              <a:t> </a:t>
            </a:r>
            <a:r>
              <a:rPr dirty="0" err="1">
                <a:latin typeface="Arial"/>
              </a:rPr>
              <a:t>bình</a:t>
            </a:r>
            <a:r>
              <a:rPr dirty="0">
                <a:latin typeface="Arial"/>
              </a:rPr>
              <a:t> </a:t>
            </a:r>
            <a:r>
              <a:rPr dirty="0" err="1">
                <a:latin typeface="Arial"/>
              </a:rPr>
              <a:t>luận</a:t>
            </a:r>
            <a:r>
              <a:rPr dirty="0">
                <a:latin typeface="Arial"/>
              </a:rPr>
              <a:t> </a:t>
            </a:r>
            <a:r>
              <a:rPr dirty="0" err="1">
                <a:latin typeface="Arial"/>
              </a:rPr>
              <a:t>khách</a:t>
            </a:r>
            <a:r>
              <a:rPr dirty="0">
                <a:latin typeface="Arial"/>
              </a:rPr>
              <a:t> </a:t>
            </a:r>
            <a:r>
              <a:rPr dirty="0" err="1">
                <a:latin typeface="Arial"/>
              </a:rPr>
              <a:t>hàng</a:t>
            </a:r>
            <a:r>
              <a:rPr dirty="0">
                <a:latin typeface="Arial"/>
              </a:rPr>
              <a:t> </a:t>
            </a:r>
            <a:r>
              <a:rPr dirty="0" err="1">
                <a:latin typeface="Arial"/>
              </a:rPr>
              <a:t>trên</a:t>
            </a:r>
            <a:r>
              <a:rPr dirty="0">
                <a:latin typeface="Arial"/>
              </a:rPr>
              <a:t> Shopee.</a:t>
            </a:r>
          </a:p>
          <a:p>
            <a:pPr>
              <a:defRPr sz="1900">
                <a:solidFill>
                  <a:srgbClr val="0F172A"/>
                </a:solidFill>
                <a:latin typeface="Arial"/>
              </a:defRPr>
            </a:pPr>
            <a:r>
              <a:rPr dirty="0">
                <a:latin typeface="Arial"/>
              </a:rPr>
              <a:t>• </a:t>
            </a:r>
            <a:r>
              <a:rPr dirty="0" err="1">
                <a:latin typeface="Arial"/>
              </a:rPr>
              <a:t>Bài</a:t>
            </a:r>
            <a:r>
              <a:rPr dirty="0">
                <a:latin typeface="Arial"/>
              </a:rPr>
              <a:t> </a:t>
            </a:r>
            <a:r>
              <a:rPr dirty="0" err="1">
                <a:latin typeface="Arial"/>
              </a:rPr>
              <a:t>toán</a:t>
            </a:r>
            <a:r>
              <a:rPr dirty="0">
                <a:latin typeface="Arial"/>
              </a:rPr>
              <a:t> </a:t>
            </a:r>
            <a:r>
              <a:rPr dirty="0" err="1">
                <a:latin typeface="Arial"/>
              </a:rPr>
              <a:t>gồm</a:t>
            </a:r>
            <a:r>
              <a:rPr dirty="0">
                <a:latin typeface="Arial"/>
              </a:rPr>
              <a:t> </a:t>
            </a:r>
            <a:r>
              <a:rPr dirty="0" err="1">
                <a:latin typeface="Arial"/>
              </a:rPr>
              <a:t>hai</a:t>
            </a:r>
            <a:r>
              <a:rPr dirty="0">
                <a:latin typeface="Arial"/>
              </a:rPr>
              <a:t> </a:t>
            </a:r>
            <a:r>
              <a:rPr dirty="0" err="1">
                <a:latin typeface="Arial"/>
              </a:rPr>
              <a:t>nhiệm</a:t>
            </a:r>
            <a:r>
              <a:rPr dirty="0">
                <a:latin typeface="Arial"/>
              </a:rPr>
              <a:t> </a:t>
            </a:r>
            <a:r>
              <a:rPr dirty="0" err="1">
                <a:latin typeface="Arial"/>
              </a:rPr>
              <a:t>vụ</a:t>
            </a:r>
            <a:r>
              <a:rPr dirty="0">
                <a:latin typeface="Arial"/>
              </a:rPr>
              <a:t>: </a:t>
            </a:r>
            <a:r>
              <a:rPr dirty="0" err="1">
                <a:latin typeface="Arial"/>
              </a:rPr>
              <a:t>phân</a:t>
            </a:r>
            <a:r>
              <a:rPr dirty="0">
                <a:latin typeface="Arial"/>
              </a:rPr>
              <a:t> </a:t>
            </a:r>
            <a:r>
              <a:rPr dirty="0" err="1">
                <a:latin typeface="Arial"/>
              </a:rPr>
              <a:t>loại</a:t>
            </a:r>
            <a:r>
              <a:rPr dirty="0">
                <a:latin typeface="Arial"/>
              </a:rPr>
              <a:t> </a:t>
            </a:r>
            <a:r>
              <a:rPr dirty="0" err="1">
                <a:latin typeface="Arial"/>
              </a:rPr>
              <a:t>cảm</a:t>
            </a:r>
            <a:r>
              <a:rPr dirty="0">
                <a:latin typeface="Arial"/>
              </a:rPr>
              <a:t> </a:t>
            </a:r>
            <a:r>
              <a:rPr dirty="0" err="1">
                <a:latin typeface="Arial"/>
              </a:rPr>
              <a:t>xúc</a:t>
            </a:r>
            <a:r>
              <a:rPr dirty="0">
                <a:latin typeface="Arial"/>
              </a:rPr>
              <a:t> </a:t>
            </a:r>
            <a:r>
              <a:rPr dirty="0" err="1">
                <a:latin typeface="Arial"/>
              </a:rPr>
              <a:t>và</a:t>
            </a:r>
            <a:r>
              <a:rPr dirty="0">
                <a:latin typeface="Arial"/>
              </a:rPr>
              <a:t> </a:t>
            </a:r>
            <a:r>
              <a:rPr dirty="0" err="1">
                <a:latin typeface="Arial"/>
              </a:rPr>
              <a:t>phân</a:t>
            </a:r>
            <a:r>
              <a:rPr dirty="0">
                <a:latin typeface="Arial"/>
              </a:rPr>
              <a:t> </a:t>
            </a:r>
            <a:r>
              <a:rPr dirty="0" err="1">
                <a:latin typeface="Arial"/>
              </a:rPr>
              <a:t>loại</a:t>
            </a:r>
            <a:r>
              <a:rPr dirty="0">
                <a:latin typeface="Arial"/>
              </a:rPr>
              <a:t> </a:t>
            </a:r>
            <a:r>
              <a:rPr dirty="0" err="1">
                <a:latin typeface="Arial"/>
              </a:rPr>
              <a:t>vấn</a:t>
            </a:r>
            <a:r>
              <a:rPr dirty="0">
                <a:latin typeface="Arial"/>
              </a:rPr>
              <a:t> </a:t>
            </a:r>
            <a:r>
              <a:rPr dirty="0" err="1">
                <a:latin typeface="Arial"/>
              </a:rPr>
              <a:t>đề</a:t>
            </a:r>
            <a:r>
              <a:rPr dirty="0">
                <a:latin typeface="Arial"/>
              </a:rPr>
              <a:t> </a:t>
            </a:r>
            <a:r>
              <a:rPr dirty="0" err="1">
                <a:latin typeface="Arial"/>
              </a:rPr>
              <a:t>chính</a:t>
            </a:r>
            <a:r>
              <a:rPr dirty="0">
                <a:latin typeface="Arial"/>
              </a:rPr>
              <a:t> </a:t>
            </a:r>
            <a:r>
              <a:rPr dirty="0" err="1">
                <a:latin typeface="Arial"/>
              </a:rPr>
              <a:t>trong</a:t>
            </a:r>
            <a:r>
              <a:rPr dirty="0">
                <a:latin typeface="Arial"/>
              </a:rPr>
              <a:t> </a:t>
            </a:r>
            <a:r>
              <a:rPr dirty="0" err="1">
                <a:latin typeface="Arial"/>
              </a:rPr>
              <a:t>bình</a:t>
            </a:r>
            <a:r>
              <a:rPr dirty="0">
                <a:latin typeface="Arial"/>
              </a:rPr>
              <a:t> </a:t>
            </a:r>
            <a:r>
              <a:rPr dirty="0" err="1">
                <a:latin typeface="Arial"/>
              </a:rPr>
              <a:t>luận</a:t>
            </a:r>
            <a:r>
              <a:rPr dirty="0">
                <a:latin typeface="Arial"/>
              </a:rPr>
              <a:t>.</a:t>
            </a:r>
          </a:p>
          <a:p>
            <a:pPr>
              <a:defRPr sz="1900">
                <a:solidFill>
                  <a:srgbClr val="0F172A"/>
                </a:solidFill>
                <a:latin typeface="Arial"/>
              </a:defRPr>
            </a:pPr>
            <a:r>
              <a:rPr dirty="0">
                <a:latin typeface="Arial"/>
              </a:rPr>
              <a:t>• Pipeline </a:t>
            </a:r>
            <a:r>
              <a:rPr dirty="0" err="1">
                <a:latin typeface="Arial"/>
              </a:rPr>
              <a:t>sử</a:t>
            </a:r>
            <a:r>
              <a:rPr dirty="0">
                <a:latin typeface="Arial"/>
              </a:rPr>
              <a:t> </a:t>
            </a:r>
            <a:r>
              <a:rPr dirty="0" err="1">
                <a:latin typeface="Arial"/>
              </a:rPr>
              <a:t>dụng</a:t>
            </a:r>
            <a:r>
              <a:rPr dirty="0">
                <a:latin typeface="Arial"/>
              </a:rPr>
              <a:t> </a:t>
            </a:r>
            <a:r>
              <a:rPr dirty="0" err="1">
                <a:latin typeface="Arial"/>
              </a:rPr>
              <a:t>tiền</a:t>
            </a:r>
            <a:r>
              <a:rPr dirty="0">
                <a:latin typeface="Arial"/>
              </a:rPr>
              <a:t> </a:t>
            </a:r>
            <a:r>
              <a:rPr dirty="0" err="1">
                <a:latin typeface="Arial"/>
              </a:rPr>
              <a:t>xử</a:t>
            </a:r>
            <a:r>
              <a:rPr dirty="0">
                <a:latin typeface="Arial"/>
              </a:rPr>
              <a:t> </a:t>
            </a:r>
            <a:r>
              <a:rPr dirty="0" err="1">
                <a:latin typeface="Arial"/>
              </a:rPr>
              <a:t>lý</a:t>
            </a:r>
            <a:r>
              <a:rPr dirty="0">
                <a:latin typeface="Arial"/>
              </a:rPr>
              <a:t> </a:t>
            </a:r>
            <a:r>
              <a:rPr dirty="0" err="1">
                <a:latin typeface="Arial"/>
              </a:rPr>
              <a:t>tiếng</a:t>
            </a:r>
            <a:r>
              <a:rPr dirty="0">
                <a:latin typeface="Arial"/>
              </a:rPr>
              <a:t> </a:t>
            </a:r>
            <a:r>
              <a:rPr dirty="0" err="1">
                <a:latin typeface="Arial"/>
              </a:rPr>
              <a:t>Việt</a:t>
            </a:r>
            <a:r>
              <a:rPr dirty="0">
                <a:latin typeface="Arial"/>
              </a:rPr>
              <a:t>, </a:t>
            </a:r>
            <a:r>
              <a:rPr dirty="0" err="1">
                <a:latin typeface="Arial"/>
              </a:rPr>
              <a:t>đặc</a:t>
            </a:r>
            <a:r>
              <a:rPr dirty="0">
                <a:latin typeface="Arial"/>
              </a:rPr>
              <a:t> </a:t>
            </a:r>
            <a:r>
              <a:rPr dirty="0" err="1">
                <a:latin typeface="Arial"/>
              </a:rPr>
              <a:t>trưng</a:t>
            </a:r>
            <a:r>
              <a:rPr dirty="0">
                <a:latin typeface="Arial"/>
              </a:rPr>
              <a:t> TF-IDF, baseline Naive Bayes, Linear SVM </a:t>
            </a:r>
            <a:r>
              <a:rPr dirty="0" err="1">
                <a:latin typeface="Arial"/>
              </a:rPr>
              <a:t>và</a:t>
            </a:r>
            <a:r>
              <a:rPr dirty="0">
                <a:latin typeface="Arial"/>
              </a:rPr>
              <a:t> </a:t>
            </a:r>
            <a:r>
              <a:rPr dirty="0" err="1">
                <a:latin typeface="Arial"/>
              </a:rPr>
              <a:t>một</a:t>
            </a:r>
            <a:r>
              <a:rPr dirty="0">
                <a:latin typeface="Arial"/>
              </a:rPr>
              <a:t> </a:t>
            </a:r>
            <a:r>
              <a:rPr dirty="0" err="1">
                <a:latin typeface="Arial"/>
              </a:rPr>
              <a:t>lớp</a:t>
            </a:r>
            <a:r>
              <a:rPr dirty="0">
                <a:latin typeface="Arial"/>
              </a:rPr>
              <a:t> rule an </a:t>
            </a:r>
            <a:r>
              <a:rPr dirty="0" err="1">
                <a:latin typeface="Arial"/>
              </a:rPr>
              <a:t>toàn</a:t>
            </a:r>
            <a:r>
              <a:rPr dirty="0">
                <a:latin typeface="Arial"/>
              </a:rPr>
              <a:t>.</a:t>
            </a:r>
          </a:p>
          <a:p>
            <a:pPr>
              <a:defRPr sz="1900">
                <a:solidFill>
                  <a:srgbClr val="0F172A"/>
                </a:solidFill>
                <a:latin typeface="Arial"/>
              </a:defRPr>
            </a:pPr>
            <a:r>
              <a:rPr dirty="0">
                <a:latin typeface="Arial"/>
              </a:rPr>
              <a:t>• </a:t>
            </a:r>
            <a:r>
              <a:rPr dirty="0" err="1">
                <a:latin typeface="Arial"/>
              </a:rPr>
              <a:t>Kết</a:t>
            </a:r>
            <a:r>
              <a:rPr dirty="0">
                <a:latin typeface="Arial"/>
              </a:rPr>
              <a:t> </a:t>
            </a:r>
            <a:r>
              <a:rPr dirty="0" err="1">
                <a:latin typeface="Arial"/>
              </a:rPr>
              <a:t>quả</a:t>
            </a:r>
            <a:r>
              <a:rPr dirty="0">
                <a:latin typeface="Arial"/>
              </a:rPr>
              <a:t> </a:t>
            </a:r>
            <a:r>
              <a:rPr dirty="0" err="1">
                <a:latin typeface="Arial"/>
              </a:rPr>
              <a:t>cuối</a:t>
            </a:r>
            <a:r>
              <a:rPr dirty="0">
                <a:latin typeface="Arial"/>
              </a:rPr>
              <a:t>: sentiment Accuracy 0.8318 / Macro F1 0.7993; issue Accuracy 0.7849 / Macro F1 0.7323.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lang="en-US" sz="2800" b="1" dirty="0" err="1">
                <a:solidFill>
                  <a:srgbClr val="142A41"/>
                </a:solidFill>
                <a:latin typeface="Arial"/>
              </a:rPr>
              <a:t>Giới</a:t>
            </a:r>
            <a:r>
              <a:rPr lang="en-US" sz="2800" b="1" dirty="0">
                <a:solidFill>
                  <a:srgbClr val="142A41"/>
                </a:solidFill>
                <a:latin typeface="Arial"/>
              </a:rPr>
              <a:t> </a:t>
            </a:r>
            <a:r>
              <a:rPr lang="en-US" sz="2800" b="1" dirty="0" err="1">
                <a:solidFill>
                  <a:srgbClr val="142A41"/>
                </a:solidFill>
                <a:latin typeface="Arial"/>
              </a:rPr>
              <a:t>thiệu</a:t>
            </a:r>
            <a:endParaRPr sz="2800" b="1" dirty="0">
              <a:solidFill>
                <a:srgbClr val="142A41"/>
              </a:solidFill>
              <a:latin typeface="Arial"/>
            </a:endParaRP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3/15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TextBox 5"/>
          <p:cNvSpPr txBox="1"/>
          <p:nvPr/>
        </p:nvSpPr>
        <p:spPr>
          <a:xfrm>
            <a:off x="777240" y="1143000"/>
            <a:ext cx="10698480" cy="5074920"/>
          </a:xfrm>
          <a:prstGeom prst="rect">
            <a:avLst/>
          </a:prstGeom>
          <a:noFill/>
        </p:spPr>
        <p:txBody>
          <a:bodyPr wrap="square">
            <a:normAutofit/>
          </a:bodyPr>
          <a:lstStyle/>
          <a:p>
            <a:pPr>
              <a:defRPr sz="1900">
                <a:solidFill>
                  <a:srgbClr val="0F172A"/>
                </a:solidFill>
                <a:latin typeface="Arial"/>
              </a:defRPr>
            </a:pPr>
            <a:r>
              <a:rPr dirty="0">
                <a:latin typeface="Arial"/>
              </a:rPr>
              <a:t>• </a:t>
            </a:r>
            <a:r>
              <a:rPr dirty="0" err="1">
                <a:latin typeface="Arial"/>
              </a:rPr>
              <a:t>Sàn</a:t>
            </a:r>
            <a:r>
              <a:rPr dirty="0">
                <a:latin typeface="Arial"/>
              </a:rPr>
              <a:t> </a:t>
            </a:r>
            <a:r>
              <a:rPr dirty="0" err="1">
                <a:latin typeface="Arial"/>
              </a:rPr>
              <a:t>thương</a:t>
            </a:r>
            <a:r>
              <a:rPr dirty="0">
                <a:latin typeface="Arial"/>
              </a:rPr>
              <a:t> </a:t>
            </a:r>
            <a:r>
              <a:rPr dirty="0" err="1">
                <a:latin typeface="Arial"/>
              </a:rPr>
              <a:t>mại</a:t>
            </a:r>
            <a:r>
              <a:rPr dirty="0">
                <a:latin typeface="Arial"/>
              </a:rPr>
              <a:t> </a:t>
            </a:r>
            <a:r>
              <a:rPr dirty="0" err="1">
                <a:latin typeface="Arial"/>
              </a:rPr>
              <a:t>điện</a:t>
            </a:r>
            <a:r>
              <a:rPr dirty="0">
                <a:latin typeface="Arial"/>
              </a:rPr>
              <a:t> </a:t>
            </a:r>
            <a:r>
              <a:rPr dirty="0" err="1">
                <a:latin typeface="Arial"/>
              </a:rPr>
              <a:t>tử</a:t>
            </a:r>
            <a:r>
              <a:rPr dirty="0">
                <a:latin typeface="Arial"/>
              </a:rPr>
              <a:t> </a:t>
            </a:r>
            <a:r>
              <a:rPr dirty="0" err="1">
                <a:latin typeface="Arial"/>
              </a:rPr>
              <a:t>nhận</a:t>
            </a:r>
            <a:r>
              <a:rPr dirty="0">
                <a:latin typeface="Arial"/>
              </a:rPr>
              <a:t> </a:t>
            </a:r>
            <a:r>
              <a:rPr dirty="0" err="1">
                <a:latin typeface="Arial"/>
              </a:rPr>
              <a:t>rất</a:t>
            </a:r>
            <a:r>
              <a:rPr dirty="0">
                <a:latin typeface="Arial"/>
              </a:rPr>
              <a:t> </a:t>
            </a:r>
            <a:r>
              <a:rPr dirty="0" err="1">
                <a:latin typeface="Arial"/>
              </a:rPr>
              <a:t>nhiều</a:t>
            </a:r>
            <a:r>
              <a:rPr dirty="0">
                <a:latin typeface="Arial"/>
              </a:rPr>
              <a:t> </a:t>
            </a:r>
            <a:r>
              <a:rPr dirty="0" err="1">
                <a:latin typeface="Arial"/>
              </a:rPr>
              <a:t>bình</a:t>
            </a:r>
            <a:r>
              <a:rPr dirty="0">
                <a:latin typeface="Arial"/>
              </a:rPr>
              <a:t> </a:t>
            </a:r>
            <a:r>
              <a:rPr dirty="0" err="1">
                <a:latin typeface="Arial"/>
              </a:rPr>
              <a:t>luận</a:t>
            </a:r>
            <a:r>
              <a:rPr dirty="0">
                <a:latin typeface="Arial"/>
              </a:rPr>
              <a:t> </a:t>
            </a:r>
            <a:r>
              <a:rPr dirty="0" err="1">
                <a:latin typeface="Arial"/>
              </a:rPr>
              <a:t>sản</a:t>
            </a:r>
            <a:r>
              <a:rPr dirty="0">
                <a:latin typeface="Arial"/>
              </a:rPr>
              <a:t> </a:t>
            </a:r>
            <a:r>
              <a:rPr dirty="0" err="1">
                <a:latin typeface="Arial"/>
              </a:rPr>
              <a:t>phẩm</a:t>
            </a:r>
            <a:r>
              <a:rPr dirty="0">
                <a:latin typeface="Arial"/>
              </a:rPr>
              <a:t> </a:t>
            </a:r>
            <a:r>
              <a:rPr dirty="0" err="1">
                <a:latin typeface="Arial"/>
              </a:rPr>
              <a:t>mỗi</a:t>
            </a:r>
            <a:r>
              <a:rPr dirty="0">
                <a:latin typeface="Arial"/>
              </a:rPr>
              <a:t> </a:t>
            </a:r>
            <a:r>
              <a:rPr dirty="0" err="1">
                <a:latin typeface="Arial"/>
              </a:rPr>
              <a:t>ngày</a:t>
            </a:r>
            <a:r>
              <a:rPr dirty="0">
                <a:latin typeface="Arial"/>
              </a:rPr>
              <a:t>.</a:t>
            </a:r>
          </a:p>
          <a:p>
            <a:pPr>
              <a:defRPr sz="1900">
                <a:solidFill>
                  <a:srgbClr val="0F172A"/>
                </a:solidFill>
                <a:latin typeface="Arial"/>
              </a:defRPr>
            </a:pPr>
            <a:r>
              <a:rPr dirty="0">
                <a:latin typeface="Arial"/>
              </a:rPr>
              <a:t>• Bình </a:t>
            </a:r>
            <a:r>
              <a:rPr dirty="0" err="1">
                <a:latin typeface="Arial"/>
              </a:rPr>
              <a:t>luận</a:t>
            </a:r>
            <a:r>
              <a:rPr dirty="0">
                <a:latin typeface="Arial"/>
              </a:rPr>
              <a:t> </a:t>
            </a:r>
            <a:r>
              <a:rPr dirty="0" err="1">
                <a:latin typeface="Arial"/>
              </a:rPr>
              <a:t>thường</a:t>
            </a:r>
            <a:r>
              <a:rPr lang="en-US" dirty="0">
                <a:latin typeface="Arial"/>
              </a:rPr>
              <a:t> </a:t>
            </a:r>
            <a:r>
              <a:rPr lang="en-US" dirty="0" err="1">
                <a:latin typeface="Arial"/>
              </a:rPr>
              <a:t>không</a:t>
            </a:r>
            <a:r>
              <a:rPr lang="en-US" dirty="0">
                <a:latin typeface="Arial"/>
              </a:rPr>
              <a:t> </a:t>
            </a:r>
            <a:r>
              <a:rPr lang="en-US" dirty="0" err="1">
                <a:latin typeface="Arial"/>
              </a:rPr>
              <a:t>có</a:t>
            </a:r>
            <a:r>
              <a:rPr lang="en-US" dirty="0">
                <a:latin typeface="Arial"/>
              </a:rPr>
              <a:t> </a:t>
            </a:r>
            <a:r>
              <a:rPr lang="en-US" dirty="0" err="1">
                <a:latin typeface="Arial"/>
              </a:rPr>
              <a:t>mẫu</a:t>
            </a:r>
            <a:r>
              <a:rPr lang="en-US" dirty="0">
                <a:latin typeface="Arial"/>
              </a:rPr>
              <a:t> </a:t>
            </a:r>
            <a:r>
              <a:rPr lang="en-US" dirty="0" err="1">
                <a:latin typeface="Arial"/>
              </a:rPr>
              <a:t>cố</a:t>
            </a:r>
            <a:r>
              <a:rPr lang="en-US" dirty="0">
                <a:latin typeface="Arial"/>
              </a:rPr>
              <a:t> </a:t>
            </a:r>
            <a:r>
              <a:rPr lang="en-US" dirty="0" err="1">
                <a:latin typeface="Arial"/>
              </a:rPr>
              <a:t>định</a:t>
            </a:r>
            <a:r>
              <a:rPr dirty="0">
                <a:latin typeface="Arial"/>
              </a:rPr>
              <a:t>, </a:t>
            </a:r>
            <a:r>
              <a:rPr dirty="0" err="1">
                <a:latin typeface="Arial"/>
              </a:rPr>
              <a:t>có</a:t>
            </a:r>
            <a:r>
              <a:rPr dirty="0">
                <a:latin typeface="Arial"/>
              </a:rPr>
              <a:t> </a:t>
            </a:r>
            <a:r>
              <a:rPr dirty="0" err="1">
                <a:latin typeface="Arial"/>
              </a:rPr>
              <a:t>teencode</a:t>
            </a:r>
            <a:r>
              <a:rPr dirty="0">
                <a:latin typeface="Arial"/>
              </a:rPr>
              <a:t>, emoji </a:t>
            </a:r>
            <a:r>
              <a:rPr dirty="0" err="1">
                <a:latin typeface="Arial"/>
              </a:rPr>
              <a:t>và</a:t>
            </a:r>
            <a:r>
              <a:rPr dirty="0">
                <a:latin typeface="Arial"/>
              </a:rPr>
              <a:t> </a:t>
            </a:r>
            <a:r>
              <a:rPr dirty="0" err="1">
                <a:latin typeface="Arial"/>
              </a:rPr>
              <a:t>lỗi</a:t>
            </a:r>
            <a:r>
              <a:rPr dirty="0">
                <a:latin typeface="Arial"/>
              </a:rPr>
              <a:t> </a:t>
            </a:r>
            <a:r>
              <a:rPr dirty="0" err="1">
                <a:latin typeface="Arial"/>
              </a:rPr>
              <a:t>chính</a:t>
            </a:r>
            <a:r>
              <a:rPr dirty="0">
                <a:latin typeface="Arial"/>
              </a:rPr>
              <a:t> </a:t>
            </a:r>
            <a:r>
              <a:rPr dirty="0" err="1">
                <a:latin typeface="Arial"/>
              </a:rPr>
              <a:t>tả</a:t>
            </a:r>
            <a:r>
              <a:rPr dirty="0">
                <a:latin typeface="Arial"/>
              </a:rPr>
              <a:t>.</a:t>
            </a:r>
          </a:p>
          <a:p>
            <a:pPr>
              <a:defRPr sz="1900">
                <a:solidFill>
                  <a:srgbClr val="0F172A"/>
                </a:solidFill>
                <a:latin typeface="Arial"/>
              </a:defRPr>
            </a:pPr>
            <a:r>
              <a:rPr dirty="0">
                <a:latin typeface="Arial"/>
              </a:rPr>
              <a:t>• </a:t>
            </a:r>
            <a:r>
              <a:rPr dirty="0" err="1">
                <a:latin typeface="Arial"/>
              </a:rPr>
              <a:t>Phân</a:t>
            </a:r>
            <a:r>
              <a:rPr dirty="0">
                <a:latin typeface="Arial"/>
              </a:rPr>
              <a:t> </a:t>
            </a:r>
            <a:r>
              <a:rPr dirty="0" err="1">
                <a:latin typeface="Arial"/>
              </a:rPr>
              <a:t>tích</a:t>
            </a:r>
            <a:r>
              <a:rPr dirty="0">
                <a:latin typeface="Arial"/>
              </a:rPr>
              <a:t> </a:t>
            </a:r>
            <a:r>
              <a:rPr dirty="0" err="1">
                <a:latin typeface="Arial"/>
              </a:rPr>
              <a:t>thủ</a:t>
            </a:r>
            <a:r>
              <a:rPr dirty="0">
                <a:latin typeface="Arial"/>
              </a:rPr>
              <a:t> </a:t>
            </a:r>
            <a:r>
              <a:rPr dirty="0" err="1">
                <a:latin typeface="Arial"/>
              </a:rPr>
              <a:t>công</a:t>
            </a:r>
            <a:r>
              <a:rPr dirty="0">
                <a:latin typeface="Arial"/>
              </a:rPr>
              <a:t> </a:t>
            </a:r>
            <a:r>
              <a:rPr dirty="0" err="1">
                <a:latin typeface="Arial"/>
              </a:rPr>
              <a:t>tốn</a:t>
            </a:r>
            <a:r>
              <a:rPr dirty="0">
                <a:latin typeface="Arial"/>
              </a:rPr>
              <a:t> </a:t>
            </a:r>
            <a:r>
              <a:rPr dirty="0" err="1">
                <a:latin typeface="Arial"/>
              </a:rPr>
              <a:t>thời</a:t>
            </a:r>
            <a:r>
              <a:rPr dirty="0">
                <a:latin typeface="Arial"/>
              </a:rPr>
              <a:t> </a:t>
            </a:r>
            <a:r>
              <a:rPr dirty="0" err="1">
                <a:latin typeface="Arial"/>
              </a:rPr>
              <a:t>gian</a:t>
            </a:r>
            <a:r>
              <a:rPr dirty="0">
                <a:latin typeface="Arial"/>
              </a:rPr>
              <a:t> </a:t>
            </a:r>
            <a:r>
              <a:rPr dirty="0" err="1">
                <a:latin typeface="Arial"/>
              </a:rPr>
              <a:t>và</a:t>
            </a:r>
            <a:r>
              <a:rPr dirty="0">
                <a:latin typeface="Arial"/>
              </a:rPr>
              <a:t> </a:t>
            </a:r>
            <a:r>
              <a:rPr dirty="0" err="1">
                <a:latin typeface="Arial"/>
              </a:rPr>
              <a:t>khó</a:t>
            </a:r>
            <a:r>
              <a:rPr dirty="0">
                <a:latin typeface="Arial"/>
              </a:rPr>
              <a:t> </a:t>
            </a:r>
            <a:r>
              <a:rPr dirty="0" err="1">
                <a:latin typeface="Arial"/>
              </a:rPr>
              <a:t>nhất</a:t>
            </a:r>
            <a:r>
              <a:rPr dirty="0">
                <a:latin typeface="Arial"/>
              </a:rPr>
              <a:t> </a:t>
            </a:r>
            <a:r>
              <a:rPr dirty="0" err="1">
                <a:latin typeface="Arial"/>
              </a:rPr>
              <a:t>quán</a:t>
            </a:r>
            <a:r>
              <a:rPr dirty="0">
                <a:latin typeface="Arial"/>
              </a:rPr>
              <a:t>.</a:t>
            </a:r>
          </a:p>
          <a:p>
            <a:pPr>
              <a:defRPr sz="1900">
                <a:solidFill>
                  <a:srgbClr val="0F172A"/>
                </a:solidFill>
                <a:latin typeface="Arial"/>
              </a:defRPr>
            </a:pPr>
            <a:r>
              <a:rPr dirty="0">
                <a:latin typeface="Arial"/>
              </a:rPr>
              <a:t>• </a:t>
            </a:r>
            <a:r>
              <a:rPr dirty="0" err="1">
                <a:latin typeface="Arial"/>
              </a:rPr>
              <a:t>Mục</a:t>
            </a:r>
            <a:r>
              <a:rPr dirty="0">
                <a:latin typeface="Arial"/>
              </a:rPr>
              <a:t> </a:t>
            </a:r>
            <a:r>
              <a:rPr dirty="0" err="1">
                <a:latin typeface="Arial"/>
              </a:rPr>
              <a:t>tiêu</a:t>
            </a:r>
            <a:r>
              <a:rPr dirty="0">
                <a:latin typeface="Arial"/>
              </a:rPr>
              <a:t> </a:t>
            </a:r>
            <a:r>
              <a:rPr dirty="0" err="1">
                <a:latin typeface="Arial"/>
              </a:rPr>
              <a:t>của</a:t>
            </a:r>
            <a:r>
              <a:rPr dirty="0">
                <a:latin typeface="Arial"/>
              </a:rPr>
              <a:t> project:</a:t>
            </a:r>
          </a:p>
          <a:p>
            <a:pPr lvl="1">
              <a:defRPr sz="1600">
                <a:solidFill>
                  <a:srgbClr val="475569"/>
                </a:solidFill>
                <a:latin typeface="Arial"/>
              </a:defRPr>
            </a:pPr>
            <a:r>
              <a:rPr dirty="0">
                <a:latin typeface="Arial"/>
              </a:rPr>
              <a:t>• </a:t>
            </a:r>
            <a:r>
              <a:rPr dirty="0" err="1">
                <a:latin typeface="Arial"/>
              </a:rPr>
              <a:t>Dự</a:t>
            </a:r>
            <a:r>
              <a:rPr dirty="0">
                <a:latin typeface="Arial"/>
              </a:rPr>
              <a:t> </a:t>
            </a:r>
            <a:r>
              <a:rPr dirty="0" err="1">
                <a:latin typeface="Arial"/>
              </a:rPr>
              <a:t>đoán</a:t>
            </a:r>
            <a:r>
              <a:rPr dirty="0">
                <a:latin typeface="Arial"/>
              </a:rPr>
              <a:t> sentiment: positive, neutral, negative.</a:t>
            </a:r>
          </a:p>
          <a:p>
            <a:pPr lvl="1">
              <a:defRPr sz="1600">
                <a:solidFill>
                  <a:srgbClr val="475569"/>
                </a:solidFill>
                <a:latin typeface="Arial"/>
              </a:defRPr>
            </a:pPr>
            <a:r>
              <a:rPr lang="en-US" dirty="0">
                <a:latin typeface="Arial"/>
              </a:rPr>
              <a:t>• </a:t>
            </a:r>
            <a:r>
              <a:rPr lang="en-US" dirty="0" err="1">
                <a:latin typeface="Arial"/>
              </a:rPr>
              <a:t>Dự</a:t>
            </a:r>
            <a:r>
              <a:rPr lang="en-US" dirty="0">
                <a:latin typeface="Arial"/>
              </a:rPr>
              <a:t> </a:t>
            </a:r>
            <a:r>
              <a:rPr lang="en-US" dirty="0" err="1">
                <a:latin typeface="Arial"/>
              </a:rPr>
              <a:t>đoán</a:t>
            </a:r>
            <a:r>
              <a:rPr lang="en-US" dirty="0">
                <a:latin typeface="Arial"/>
              </a:rPr>
              <a:t> issue </a:t>
            </a:r>
            <a:r>
              <a:rPr lang="en-US" dirty="0" err="1">
                <a:latin typeface="Arial"/>
              </a:rPr>
              <a:t>chính</a:t>
            </a:r>
            <a:r>
              <a:rPr lang="en-US" dirty="0">
                <a:latin typeface="Arial"/>
              </a:rPr>
              <a:t>: </a:t>
            </a:r>
            <a:r>
              <a:rPr lang="en-US" dirty="0" err="1">
                <a:latin typeface="Arial"/>
              </a:rPr>
              <a:t>no_issue</a:t>
            </a:r>
            <a:r>
              <a:rPr lang="en-US" dirty="0">
                <a:latin typeface="Arial"/>
              </a:rPr>
              <a:t>, </a:t>
            </a:r>
            <a:r>
              <a:rPr lang="en-US" dirty="0" err="1">
                <a:latin typeface="Arial"/>
              </a:rPr>
              <a:t>product_quality</a:t>
            </a:r>
            <a:r>
              <a:rPr lang="en-US" dirty="0">
                <a:latin typeface="Arial"/>
              </a:rPr>
              <a:t>, </a:t>
            </a:r>
            <a:r>
              <a:rPr lang="en-US" dirty="0" err="1">
                <a:latin typeface="Arial"/>
              </a:rPr>
              <a:t>product_attribute</a:t>
            </a:r>
            <a:r>
              <a:rPr lang="en-US" dirty="0">
                <a:latin typeface="Arial"/>
              </a:rPr>
              <a:t>, packaging, </a:t>
            </a:r>
            <a:r>
              <a:rPr lang="en-US" dirty="0" err="1">
                <a:latin typeface="Arial"/>
              </a:rPr>
              <a:t>wrong_missing_item</a:t>
            </a:r>
            <a:r>
              <a:rPr lang="en-US" dirty="0">
                <a:latin typeface="Arial"/>
              </a:rPr>
              <a:t>, </a:t>
            </a:r>
            <a:r>
              <a:rPr lang="en-US" dirty="0" err="1">
                <a:latin typeface="Arial"/>
              </a:rPr>
              <a:t>seller_service</a:t>
            </a:r>
            <a:r>
              <a:rPr lang="en-US" dirty="0">
                <a:latin typeface="Arial"/>
              </a:rPr>
              <a:t>, </a:t>
            </a:r>
            <a:r>
              <a:rPr lang="en-US" dirty="0" err="1">
                <a:latin typeface="Arial"/>
              </a:rPr>
              <a:t>spam_irrelevant</a:t>
            </a:r>
            <a:r>
              <a:rPr lang="en-US" dirty="0">
                <a:latin typeface="Arial"/>
              </a:rPr>
              <a:t>, </a:t>
            </a:r>
            <a:r>
              <a:rPr lang="en-US" dirty="0" err="1">
                <a:latin typeface="Arial"/>
              </a:rPr>
              <a:t>shipping_delivery</a:t>
            </a:r>
            <a:r>
              <a:rPr lang="en-US" dirty="0">
                <a:latin typeface="Arial"/>
              </a:rPr>
              <a:t>, </a:t>
            </a:r>
            <a:r>
              <a:rPr lang="en-US" dirty="0" err="1">
                <a:latin typeface="Arial"/>
              </a:rPr>
              <a:t>price_value</a:t>
            </a:r>
            <a:r>
              <a:rPr lang="en-US" dirty="0">
                <a:latin typeface="Arial"/>
              </a:rPr>
              <a:t>.</a:t>
            </a:r>
          </a:p>
          <a:p>
            <a:pPr>
              <a:defRPr sz="1900">
                <a:solidFill>
                  <a:srgbClr val="0F172A"/>
                </a:solidFill>
                <a:latin typeface="Arial"/>
              </a:defRPr>
            </a:pPr>
            <a:r>
              <a:rPr dirty="0">
                <a:latin typeface="Arial"/>
              </a:rPr>
              <a:t>• </a:t>
            </a:r>
            <a:r>
              <a:rPr lang="en-US" dirty="0" err="1">
                <a:latin typeface="Arial"/>
              </a:rPr>
              <a:t>Dữ</a:t>
            </a:r>
            <a:r>
              <a:rPr lang="en-US" dirty="0">
                <a:latin typeface="Arial"/>
              </a:rPr>
              <a:t> </a:t>
            </a:r>
            <a:r>
              <a:rPr dirty="0" err="1">
                <a:latin typeface="Arial"/>
              </a:rPr>
              <a:t>liệu</a:t>
            </a:r>
            <a:r>
              <a:rPr dirty="0">
                <a:latin typeface="Arial"/>
              </a:rPr>
              <a:t> </a:t>
            </a:r>
            <a:r>
              <a:rPr dirty="0" err="1">
                <a:latin typeface="Arial"/>
              </a:rPr>
              <a:t>huấn</a:t>
            </a:r>
            <a:r>
              <a:rPr dirty="0">
                <a:latin typeface="Arial"/>
              </a:rPr>
              <a:t> </a:t>
            </a:r>
            <a:r>
              <a:rPr dirty="0" err="1">
                <a:latin typeface="Arial"/>
              </a:rPr>
              <a:t>luyện</a:t>
            </a:r>
            <a:r>
              <a:rPr dirty="0">
                <a:latin typeface="Arial"/>
              </a:rPr>
              <a:t> </a:t>
            </a:r>
            <a:r>
              <a:rPr dirty="0" err="1">
                <a:latin typeface="Arial"/>
              </a:rPr>
              <a:t>đã</a:t>
            </a:r>
            <a:r>
              <a:rPr dirty="0">
                <a:latin typeface="Arial"/>
              </a:rPr>
              <a:t> </a:t>
            </a:r>
            <a:r>
              <a:rPr lang="en-US" dirty="0" err="1">
                <a:latin typeface="Arial"/>
              </a:rPr>
              <a:t>được</a:t>
            </a:r>
            <a:r>
              <a:rPr lang="en-US" dirty="0">
                <a:latin typeface="Arial"/>
              </a:rPr>
              <a:t> </a:t>
            </a:r>
            <a:r>
              <a:rPr lang="en-US" dirty="0" err="1">
                <a:latin typeface="Arial"/>
              </a:rPr>
              <a:t>gán</a:t>
            </a:r>
            <a:r>
              <a:rPr dirty="0">
                <a:latin typeface="Arial"/>
              </a:rPr>
              <a:t> </a:t>
            </a:r>
            <a:r>
              <a:rPr dirty="0" err="1">
                <a:latin typeface="Arial"/>
              </a:rPr>
              <a:t>nhãn</a:t>
            </a:r>
            <a:r>
              <a:rPr dirty="0">
                <a:latin typeface="Aria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sz="2800" b="1">
                <a:solidFill>
                  <a:srgbClr val="142A41"/>
                </a:solidFill>
                <a:latin typeface="Arial"/>
              </a:rPr>
              <a:t>Dataset and Labels</a:t>
            </a: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4/15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Rounded Rectangle 5"/>
          <p:cNvSpPr/>
          <p:nvPr/>
        </p:nvSpPr>
        <p:spPr>
          <a:xfrm>
            <a:off x="685800" y="1143000"/>
            <a:ext cx="2011680" cy="9144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280160"/>
            <a:ext cx="1737360" cy="201168"/>
          </a:xfrm>
          <a:prstGeom prst="rect">
            <a:avLst/>
          </a:prstGeom>
          <a:noFill/>
        </p:spPr>
        <p:txBody>
          <a:bodyPr wrap="square">
            <a:normAutofit fontScale="92500" lnSpcReduction="20000"/>
          </a:bodyPr>
          <a:lstStyle/>
          <a:p>
            <a:pPr algn="l"/>
            <a:r>
              <a:rPr sz="1000" b="1">
                <a:solidFill>
                  <a:srgbClr val="475569"/>
                </a:solidFill>
                <a:latin typeface="Arial"/>
              </a:rPr>
              <a:t>Total reviews</a:t>
            </a:r>
          </a:p>
        </p:txBody>
      </p:sp>
      <p:sp>
        <p:nvSpPr>
          <p:cNvPr id="8" name="TextBox 7"/>
          <p:cNvSpPr txBox="1"/>
          <p:nvPr/>
        </p:nvSpPr>
        <p:spPr>
          <a:xfrm>
            <a:off x="822960" y="1527048"/>
            <a:ext cx="1737360" cy="347472"/>
          </a:xfrm>
          <a:prstGeom prst="rect">
            <a:avLst/>
          </a:prstGeom>
          <a:noFill/>
        </p:spPr>
        <p:txBody>
          <a:bodyPr wrap="square">
            <a:normAutofit fontScale="85000" lnSpcReduction="20000"/>
          </a:bodyPr>
          <a:lstStyle/>
          <a:p>
            <a:pPr algn="l"/>
            <a:r>
              <a:rPr sz="2400" b="1">
                <a:solidFill>
                  <a:srgbClr val="2563EB"/>
                </a:solidFill>
                <a:latin typeface="Arial"/>
              </a:rPr>
              <a:t>6508</a:t>
            </a:r>
          </a:p>
        </p:txBody>
      </p:sp>
      <p:sp>
        <p:nvSpPr>
          <p:cNvPr id="9" name="Rounded Rectangle 8"/>
          <p:cNvSpPr/>
          <p:nvPr/>
        </p:nvSpPr>
        <p:spPr>
          <a:xfrm>
            <a:off x="2880360" y="1143000"/>
            <a:ext cx="2011680" cy="9144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17520" y="1280160"/>
            <a:ext cx="1737360" cy="201168"/>
          </a:xfrm>
          <a:prstGeom prst="rect">
            <a:avLst/>
          </a:prstGeom>
          <a:noFill/>
        </p:spPr>
        <p:txBody>
          <a:bodyPr wrap="square">
            <a:normAutofit fontScale="92500" lnSpcReduction="20000"/>
          </a:bodyPr>
          <a:lstStyle/>
          <a:p>
            <a:pPr algn="l"/>
            <a:r>
              <a:rPr sz="1000" b="1">
                <a:solidFill>
                  <a:srgbClr val="475569"/>
                </a:solidFill>
                <a:latin typeface="Arial"/>
              </a:rPr>
              <a:t>Sentiment labels</a:t>
            </a:r>
          </a:p>
        </p:txBody>
      </p:sp>
      <p:sp>
        <p:nvSpPr>
          <p:cNvPr id="11" name="TextBox 10"/>
          <p:cNvSpPr txBox="1"/>
          <p:nvPr/>
        </p:nvSpPr>
        <p:spPr>
          <a:xfrm>
            <a:off x="3017520" y="1527048"/>
            <a:ext cx="1737360" cy="347472"/>
          </a:xfrm>
          <a:prstGeom prst="rect">
            <a:avLst/>
          </a:prstGeom>
          <a:noFill/>
        </p:spPr>
        <p:txBody>
          <a:bodyPr wrap="square">
            <a:normAutofit fontScale="85000" lnSpcReduction="20000"/>
          </a:bodyPr>
          <a:lstStyle/>
          <a:p>
            <a:pPr algn="l"/>
            <a:r>
              <a:rPr sz="2400" b="1">
                <a:solidFill>
                  <a:srgbClr val="0F766E"/>
                </a:solidFill>
                <a:latin typeface="Arial"/>
              </a:rPr>
              <a:t>3</a:t>
            </a:r>
          </a:p>
        </p:txBody>
      </p:sp>
      <p:sp>
        <p:nvSpPr>
          <p:cNvPr id="12" name="Rounded Rectangle 11"/>
          <p:cNvSpPr/>
          <p:nvPr/>
        </p:nvSpPr>
        <p:spPr>
          <a:xfrm>
            <a:off x="5074920" y="1143000"/>
            <a:ext cx="2011680" cy="9144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12080" y="1280160"/>
            <a:ext cx="1737360" cy="201168"/>
          </a:xfrm>
          <a:prstGeom prst="rect">
            <a:avLst/>
          </a:prstGeom>
          <a:noFill/>
        </p:spPr>
        <p:txBody>
          <a:bodyPr wrap="square">
            <a:normAutofit fontScale="92500" lnSpcReduction="20000"/>
          </a:bodyPr>
          <a:lstStyle/>
          <a:p>
            <a:pPr algn="l"/>
            <a:r>
              <a:rPr sz="1000" b="1">
                <a:solidFill>
                  <a:srgbClr val="475569"/>
                </a:solidFill>
                <a:latin typeface="Arial"/>
              </a:rPr>
              <a:t>Issue labels</a:t>
            </a:r>
          </a:p>
        </p:txBody>
      </p:sp>
      <p:sp>
        <p:nvSpPr>
          <p:cNvPr id="14" name="TextBox 13"/>
          <p:cNvSpPr txBox="1"/>
          <p:nvPr/>
        </p:nvSpPr>
        <p:spPr>
          <a:xfrm>
            <a:off x="5212080" y="1527048"/>
            <a:ext cx="1737360" cy="347472"/>
          </a:xfrm>
          <a:prstGeom prst="rect">
            <a:avLst/>
          </a:prstGeom>
          <a:noFill/>
        </p:spPr>
        <p:txBody>
          <a:bodyPr wrap="square">
            <a:normAutofit fontScale="85000" lnSpcReduction="20000"/>
          </a:bodyPr>
          <a:lstStyle/>
          <a:p>
            <a:pPr algn="l"/>
            <a:r>
              <a:rPr sz="2400" b="1">
                <a:solidFill>
                  <a:srgbClr val="D97706"/>
                </a:solidFill>
                <a:latin typeface="Arial"/>
              </a:rPr>
              <a:t>9</a:t>
            </a:r>
          </a:p>
        </p:txBody>
      </p:sp>
      <p:sp>
        <p:nvSpPr>
          <p:cNvPr id="15" name="Rounded Rectangle 14"/>
          <p:cNvSpPr/>
          <p:nvPr/>
        </p:nvSpPr>
        <p:spPr>
          <a:xfrm>
            <a:off x="7269480" y="1143000"/>
            <a:ext cx="2011680" cy="9144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06640" y="1280160"/>
            <a:ext cx="1737360" cy="201168"/>
          </a:xfrm>
          <a:prstGeom prst="rect">
            <a:avLst/>
          </a:prstGeom>
          <a:noFill/>
        </p:spPr>
        <p:txBody>
          <a:bodyPr wrap="square">
            <a:normAutofit fontScale="92500" lnSpcReduction="20000"/>
          </a:bodyPr>
          <a:lstStyle/>
          <a:p>
            <a:pPr algn="l"/>
            <a:r>
              <a:rPr sz="1000" b="1">
                <a:solidFill>
                  <a:srgbClr val="475569"/>
                </a:solidFill>
                <a:latin typeface="Arial"/>
              </a:rPr>
              <a:t>Test rows</a:t>
            </a:r>
          </a:p>
        </p:txBody>
      </p:sp>
      <p:sp>
        <p:nvSpPr>
          <p:cNvPr id="17" name="TextBox 16"/>
          <p:cNvSpPr txBox="1"/>
          <p:nvPr/>
        </p:nvSpPr>
        <p:spPr>
          <a:xfrm>
            <a:off x="7406640" y="1527048"/>
            <a:ext cx="1737360" cy="347472"/>
          </a:xfrm>
          <a:prstGeom prst="rect">
            <a:avLst/>
          </a:prstGeom>
          <a:noFill/>
        </p:spPr>
        <p:txBody>
          <a:bodyPr wrap="square">
            <a:normAutofit fontScale="85000" lnSpcReduction="20000"/>
          </a:bodyPr>
          <a:lstStyle/>
          <a:p>
            <a:pPr algn="l"/>
            <a:r>
              <a:rPr sz="2400" b="1">
                <a:solidFill>
                  <a:srgbClr val="166534"/>
                </a:solidFill>
                <a:latin typeface="Arial"/>
              </a:rPr>
              <a:t>1302</a:t>
            </a:r>
          </a:p>
        </p:txBody>
      </p:sp>
      <p:sp>
        <p:nvSpPr>
          <p:cNvPr id="18" name="TextBox 17"/>
          <p:cNvSpPr txBox="1"/>
          <p:nvPr/>
        </p:nvSpPr>
        <p:spPr>
          <a:xfrm>
            <a:off x="777240" y="2514600"/>
            <a:ext cx="4663440" cy="228600"/>
          </a:xfrm>
          <a:prstGeom prst="rect">
            <a:avLst/>
          </a:prstGeom>
          <a:noFill/>
        </p:spPr>
        <p:txBody>
          <a:bodyPr wrap="square">
            <a:normAutofit fontScale="70000" lnSpcReduction="20000"/>
          </a:bodyPr>
          <a:lstStyle/>
          <a:p>
            <a:pPr algn="l"/>
            <a:r>
              <a:rPr sz="1500" b="1">
                <a:solidFill>
                  <a:srgbClr val="142A41"/>
                </a:solidFill>
                <a:latin typeface="Arial"/>
              </a:rPr>
              <a:t>Sentiment distribution</a:t>
            </a:r>
          </a:p>
        </p:txBody>
      </p:sp>
      <p:sp>
        <p:nvSpPr>
          <p:cNvPr id="19" name="TextBox 18"/>
          <p:cNvSpPr txBox="1"/>
          <p:nvPr/>
        </p:nvSpPr>
        <p:spPr>
          <a:xfrm>
            <a:off x="777240" y="2926080"/>
            <a:ext cx="1828800" cy="201168"/>
          </a:xfrm>
          <a:prstGeom prst="rect">
            <a:avLst/>
          </a:prstGeom>
          <a:noFill/>
        </p:spPr>
        <p:txBody>
          <a:bodyPr wrap="square">
            <a:normAutofit fontScale="92500" lnSpcReduction="20000"/>
          </a:bodyPr>
          <a:lstStyle/>
          <a:p>
            <a:pPr algn="l"/>
            <a:r>
              <a:rPr sz="1000" b="0">
                <a:solidFill>
                  <a:srgbClr val="475569"/>
                </a:solidFill>
                <a:latin typeface="Arial"/>
              </a:rPr>
              <a:t>negative</a:t>
            </a:r>
          </a:p>
        </p:txBody>
      </p:sp>
      <p:sp>
        <p:nvSpPr>
          <p:cNvPr id="20" name="Rectangle 19"/>
          <p:cNvSpPr/>
          <p:nvPr/>
        </p:nvSpPr>
        <p:spPr>
          <a:xfrm>
            <a:off x="2651760" y="2971800"/>
            <a:ext cx="1920239" cy="12801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36008" y="2926080"/>
            <a:ext cx="685800" cy="201168"/>
          </a:xfrm>
          <a:prstGeom prst="rect">
            <a:avLst/>
          </a:prstGeom>
          <a:noFill/>
        </p:spPr>
        <p:txBody>
          <a:bodyPr wrap="square">
            <a:normAutofit fontScale="92500" lnSpcReduction="10000"/>
          </a:bodyPr>
          <a:lstStyle/>
          <a:p>
            <a:pPr algn="l"/>
            <a:r>
              <a:rPr sz="900" b="0">
                <a:solidFill>
                  <a:srgbClr val="475569"/>
                </a:solidFill>
                <a:latin typeface="Arial"/>
              </a:rPr>
              <a:t>3366</a:t>
            </a:r>
          </a:p>
        </p:txBody>
      </p:sp>
      <p:sp>
        <p:nvSpPr>
          <p:cNvPr id="22" name="TextBox 21"/>
          <p:cNvSpPr txBox="1"/>
          <p:nvPr/>
        </p:nvSpPr>
        <p:spPr>
          <a:xfrm>
            <a:off x="777240" y="3703320"/>
            <a:ext cx="1828800" cy="201168"/>
          </a:xfrm>
          <a:prstGeom prst="rect">
            <a:avLst/>
          </a:prstGeom>
          <a:noFill/>
        </p:spPr>
        <p:txBody>
          <a:bodyPr wrap="square">
            <a:normAutofit fontScale="92500" lnSpcReduction="20000"/>
          </a:bodyPr>
          <a:lstStyle/>
          <a:p>
            <a:pPr algn="l"/>
            <a:r>
              <a:rPr sz="1000" b="0">
                <a:solidFill>
                  <a:srgbClr val="475569"/>
                </a:solidFill>
                <a:latin typeface="Arial"/>
              </a:rPr>
              <a:t>positive</a:t>
            </a:r>
          </a:p>
        </p:txBody>
      </p:sp>
      <p:sp>
        <p:nvSpPr>
          <p:cNvPr id="23" name="Rectangle 22"/>
          <p:cNvSpPr/>
          <p:nvPr/>
        </p:nvSpPr>
        <p:spPr>
          <a:xfrm>
            <a:off x="2651760" y="3749039"/>
            <a:ext cx="1040557" cy="12801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756325" y="3703320"/>
            <a:ext cx="685800" cy="201168"/>
          </a:xfrm>
          <a:prstGeom prst="rect">
            <a:avLst/>
          </a:prstGeom>
          <a:noFill/>
        </p:spPr>
        <p:txBody>
          <a:bodyPr wrap="square">
            <a:normAutofit fontScale="92500" lnSpcReduction="10000"/>
          </a:bodyPr>
          <a:lstStyle/>
          <a:p>
            <a:pPr algn="l"/>
            <a:r>
              <a:rPr sz="900" b="0">
                <a:solidFill>
                  <a:srgbClr val="475569"/>
                </a:solidFill>
                <a:latin typeface="Arial"/>
              </a:rPr>
              <a:t>1824</a:t>
            </a:r>
          </a:p>
        </p:txBody>
      </p:sp>
      <p:sp>
        <p:nvSpPr>
          <p:cNvPr id="25" name="TextBox 24"/>
          <p:cNvSpPr txBox="1"/>
          <p:nvPr/>
        </p:nvSpPr>
        <p:spPr>
          <a:xfrm>
            <a:off x="777240" y="4480560"/>
            <a:ext cx="1828800" cy="201168"/>
          </a:xfrm>
          <a:prstGeom prst="rect">
            <a:avLst/>
          </a:prstGeom>
          <a:noFill/>
        </p:spPr>
        <p:txBody>
          <a:bodyPr wrap="square">
            <a:normAutofit fontScale="92500" lnSpcReduction="20000"/>
          </a:bodyPr>
          <a:lstStyle/>
          <a:p>
            <a:pPr algn="l"/>
            <a:r>
              <a:rPr sz="1000" b="0">
                <a:solidFill>
                  <a:srgbClr val="475569"/>
                </a:solidFill>
                <a:latin typeface="Arial"/>
              </a:rPr>
              <a:t>neutral</a:t>
            </a:r>
          </a:p>
        </p:txBody>
      </p:sp>
      <p:sp>
        <p:nvSpPr>
          <p:cNvPr id="26" name="Rectangle 25"/>
          <p:cNvSpPr/>
          <p:nvPr/>
        </p:nvSpPr>
        <p:spPr>
          <a:xfrm>
            <a:off x="2651760" y="4526280"/>
            <a:ext cx="751894" cy="12801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67662" y="4480560"/>
            <a:ext cx="685800" cy="201168"/>
          </a:xfrm>
          <a:prstGeom prst="rect">
            <a:avLst/>
          </a:prstGeom>
          <a:noFill/>
        </p:spPr>
        <p:txBody>
          <a:bodyPr wrap="square">
            <a:normAutofit fontScale="92500" lnSpcReduction="10000"/>
          </a:bodyPr>
          <a:lstStyle/>
          <a:p>
            <a:pPr algn="l"/>
            <a:r>
              <a:rPr sz="900" b="0">
                <a:solidFill>
                  <a:srgbClr val="475569"/>
                </a:solidFill>
                <a:latin typeface="Arial"/>
              </a:rPr>
              <a:t>1318</a:t>
            </a:r>
          </a:p>
        </p:txBody>
      </p:sp>
      <p:sp>
        <p:nvSpPr>
          <p:cNvPr id="28" name="TextBox 27"/>
          <p:cNvSpPr txBox="1"/>
          <p:nvPr/>
        </p:nvSpPr>
        <p:spPr>
          <a:xfrm>
            <a:off x="6080760" y="2514600"/>
            <a:ext cx="5212080" cy="228600"/>
          </a:xfrm>
          <a:prstGeom prst="rect">
            <a:avLst/>
          </a:prstGeom>
          <a:noFill/>
        </p:spPr>
        <p:txBody>
          <a:bodyPr wrap="square">
            <a:normAutofit fontScale="70000" lnSpcReduction="20000"/>
          </a:bodyPr>
          <a:lstStyle/>
          <a:p>
            <a:pPr algn="l"/>
            <a:r>
              <a:rPr sz="1500" b="1">
                <a:solidFill>
                  <a:srgbClr val="142A41"/>
                </a:solidFill>
                <a:latin typeface="Arial"/>
              </a:rPr>
              <a:t>Top issue labels</a:t>
            </a:r>
          </a:p>
        </p:txBody>
      </p:sp>
      <p:sp>
        <p:nvSpPr>
          <p:cNvPr id="29" name="TextBox 28"/>
          <p:cNvSpPr txBox="1"/>
          <p:nvPr/>
        </p:nvSpPr>
        <p:spPr>
          <a:xfrm>
            <a:off x="6080760" y="2926080"/>
            <a:ext cx="1828800" cy="201168"/>
          </a:xfrm>
          <a:prstGeom prst="rect">
            <a:avLst/>
          </a:prstGeom>
          <a:noFill/>
        </p:spPr>
        <p:txBody>
          <a:bodyPr wrap="square">
            <a:normAutofit fontScale="92500" lnSpcReduction="20000"/>
          </a:bodyPr>
          <a:lstStyle/>
          <a:p>
            <a:pPr algn="l"/>
            <a:r>
              <a:rPr sz="1000" b="0">
                <a:solidFill>
                  <a:srgbClr val="475569"/>
                </a:solidFill>
                <a:latin typeface="Arial"/>
              </a:rPr>
              <a:t>no_issue</a:t>
            </a:r>
          </a:p>
        </p:txBody>
      </p:sp>
      <p:sp>
        <p:nvSpPr>
          <p:cNvPr id="30" name="Rectangle 29"/>
          <p:cNvSpPr/>
          <p:nvPr/>
        </p:nvSpPr>
        <p:spPr>
          <a:xfrm>
            <a:off x="7955279" y="2971800"/>
            <a:ext cx="2468880" cy="12801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488167" y="2926080"/>
            <a:ext cx="685800" cy="201168"/>
          </a:xfrm>
          <a:prstGeom prst="rect">
            <a:avLst/>
          </a:prstGeom>
          <a:noFill/>
        </p:spPr>
        <p:txBody>
          <a:bodyPr wrap="square">
            <a:normAutofit fontScale="92500" lnSpcReduction="10000"/>
          </a:bodyPr>
          <a:lstStyle/>
          <a:p>
            <a:pPr algn="l"/>
            <a:r>
              <a:rPr sz="900" b="0">
                <a:solidFill>
                  <a:srgbClr val="475569"/>
                </a:solidFill>
                <a:latin typeface="Arial"/>
              </a:rPr>
              <a:t>2097</a:t>
            </a:r>
          </a:p>
        </p:txBody>
      </p:sp>
      <p:sp>
        <p:nvSpPr>
          <p:cNvPr id="32" name="TextBox 31"/>
          <p:cNvSpPr txBox="1"/>
          <p:nvPr/>
        </p:nvSpPr>
        <p:spPr>
          <a:xfrm>
            <a:off x="6080760" y="3392424"/>
            <a:ext cx="1828800" cy="201168"/>
          </a:xfrm>
          <a:prstGeom prst="rect">
            <a:avLst/>
          </a:prstGeom>
          <a:noFill/>
        </p:spPr>
        <p:txBody>
          <a:bodyPr wrap="square">
            <a:normAutofit fontScale="92500" lnSpcReduction="20000"/>
          </a:bodyPr>
          <a:lstStyle/>
          <a:p>
            <a:pPr algn="l"/>
            <a:r>
              <a:rPr sz="1000" b="0">
                <a:solidFill>
                  <a:srgbClr val="475569"/>
                </a:solidFill>
                <a:latin typeface="Arial"/>
              </a:rPr>
              <a:t>product_quality</a:t>
            </a:r>
          </a:p>
        </p:txBody>
      </p:sp>
      <p:sp>
        <p:nvSpPr>
          <p:cNvPr id="33" name="Rectangle 32"/>
          <p:cNvSpPr/>
          <p:nvPr/>
        </p:nvSpPr>
        <p:spPr>
          <a:xfrm>
            <a:off x="7955279" y="3438144"/>
            <a:ext cx="2440623" cy="12801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459911" y="3392424"/>
            <a:ext cx="685800" cy="201168"/>
          </a:xfrm>
          <a:prstGeom prst="rect">
            <a:avLst/>
          </a:prstGeom>
          <a:noFill/>
        </p:spPr>
        <p:txBody>
          <a:bodyPr wrap="square">
            <a:normAutofit fontScale="92500" lnSpcReduction="10000"/>
          </a:bodyPr>
          <a:lstStyle/>
          <a:p>
            <a:pPr algn="l"/>
            <a:r>
              <a:rPr sz="900" b="0">
                <a:solidFill>
                  <a:srgbClr val="475569"/>
                </a:solidFill>
                <a:latin typeface="Arial"/>
              </a:rPr>
              <a:t>2073</a:t>
            </a:r>
          </a:p>
        </p:txBody>
      </p:sp>
      <p:sp>
        <p:nvSpPr>
          <p:cNvPr id="35" name="TextBox 34"/>
          <p:cNvSpPr txBox="1"/>
          <p:nvPr/>
        </p:nvSpPr>
        <p:spPr>
          <a:xfrm>
            <a:off x="6080760" y="3858768"/>
            <a:ext cx="1828800" cy="201168"/>
          </a:xfrm>
          <a:prstGeom prst="rect">
            <a:avLst/>
          </a:prstGeom>
          <a:noFill/>
        </p:spPr>
        <p:txBody>
          <a:bodyPr wrap="square">
            <a:normAutofit fontScale="92500" lnSpcReduction="20000"/>
          </a:bodyPr>
          <a:lstStyle/>
          <a:p>
            <a:pPr algn="l"/>
            <a:r>
              <a:rPr sz="1000" b="0">
                <a:solidFill>
                  <a:srgbClr val="475569"/>
                </a:solidFill>
                <a:latin typeface="Arial"/>
              </a:rPr>
              <a:t>product_attribute</a:t>
            </a:r>
          </a:p>
        </p:txBody>
      </p:sp>
      <p:sp>
        <p:nvSpPr>
          <p:cNvPr id="36" name="Rectangle 35"/>
          <p:cNvSpPr/>
          <p:nvPr/>
        </p:nvSpPr>
        <p:spPr>
          <a:xfrm>
            <a:off x="7955279" y="3904488"/>
            <a:ext cx="892423" cy="12801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911711" y="3858768"/>
            <a:ext cx="685800" cy="201168"/>
          </a:xfrm>
          <a:prstGeom prst="rect">
            <a:avLst/>
          </a:prstGeom>
          <a:noFill/>
        </p:spPr>
        <p:txBody>
          <a:bodyPr wrap="square">
            <a:normAutofit fontScale="92500" lnSpcReduction="10000"/>
          </a:bodyPr>
          <a:lstStyle/>
          <a:p>
            <a:pPr algn="l"/>
            <a:r>
              <a:rPr sz="900" b="0">
                <a:solidFill>
                  <a:srgbClr val="475569"/>
                </a:solidFill>
                <a:latin typeface="Arial"/>
              </a:rPr>
              <a:t>758</a:t>
            </a:r>
          </a:p>
        </p:txBody>
      </p:sp>
      <p:sp>
        <p:nvSpPr>
          <p:cNvPr id="38" name="TextBox 37"/>
          <p:cNvSpPr txBox="1"/>
          <p:nvPr/>
        </p:nvSpPr>
        <p:spPr>
          <a:xfrm>
            <a:off x="6080760" y="4325112"/>
            <a:ext cx="1828800" cy="201168"/>
          </a:xfrm>
          <a:prstGeom prst="rect">
            <a:avLst/>
          </a:prstGeom>
          <a:noFill/>
        </p:spPr>
        <p:txBody>
          <a:bodyPr wrap="square">
            <a:normAutofit fontScale="92500" lnSpcReduction="20000"/>
          </a:bodyPr>
          <a:lstStyle/>
          <a:p>
            <a:pPr algn="l"/>
            <a:r>
              <a:rPr sz="1000" b="0">
                <a:solidFill>
                  <a:srgbClr val="475569"/>
                </a:solidFill>
                <a:latin typeface="Arial"/>
              </a:rPr>
              <a:t>wrong_missing_item</a:t>
            </a:r>
          </a:p>
        </p:txBody>
      </p:sp>
      <p:sp>
        <p:nvSpPr>
          <p:cNvPr id="39" name="Rectangle 38"/>
          <p:cNvSpPr/>
          <p:nvPr/>
        </p:nvSpPr>
        <p:spPr>
          <a:xfrm>
            <a:off x="7955279" y="4370832"/>
            <a:ext cx="568654" cy="12801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587942" y="4325112"/>
            <a:ext cx="685800" cy="201168"/>
          </a:xfrm>
          <a:prstGeom prst="rect">
            <a:avLst/>
          </a:prstGeom>
          <a:noFill/>
        </p:spPr>
        <p:txBody>
          <a:bodyPr wrap="square">
            <a:normAutofit fontScale="92500" lnSpcReduction="10000"/>
          </a:bodyPr>
          <a:lstStyle/>
          <a:p>
            <a:pPr algn="l"/>
            <a:r>
              <a:rPr sz="900" b="0">
                <a:solidFill>
                  <a:srgbClr val="475569"/>
                </a:solidFill>
                <a:latin typeface="Arial"/>
              </a:rPr>
              <a:t>483</a:t>
            </a:r>
          </a:p>
        </p:txBody>
      </p:sp>
      <p:sp>
        <p:nvSpPr>
          <p:cNvPr id="41" name="TextBox 40"/>
          <p:cNvSpPr txBox="1"/>
          <p:nvPr/>
        </p:nvSpPr>
        <p:spPr>
          <a:xfrm>
            <a:off x="6080760" y="4791456"/>
            <a:ext cx="1828800" cy="201168"/>
          </a:xfrm>
          <a:prstGeom prst="rect">
            <a:avLst/>
          </a:prstGeom>
          <a:noFill/>
        </p:spPr>
        <p:txBody>
          <a:bodyPr wrap="square">
            <a:normAutofit fontScale="92500" lnSpcReduction="20000"/>
          </a:bodyPr>
          <a:lstStyle/>
          <a:p>
            <a:pPr algn="l"/>
            <a:r>
              <a:rPr sz="1000" b="0">
                <a:solidFill>
                  <a:srgbClr val="475569"/>
                </a:solidFill>
                <a:latin typeface="Arial"/>
              </a:rPr>
              <a:t>packaging</a:t>
            </a:r>
          </a:p>
        </p:txBody>
      </p:sp>
      <p:sp>
        <p:nvSpPr>
          <p:cNvPr id="42" name="Rectangle 41"/>
          <p:cNvSpPr/>
          <p:nvPr/>
        </p:nvSpPr>
        <p:spPr>
          <a:xfrm>
            <a:off x="7955279" y="4837176"/>
            <a:ext cx="477999" cy="12801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497287" y="4791456"/>
            <a:ext cx="685800" cy="201168"/>
          </a:xfrm>
          <a:prstGeom prst="rect">
            <a:avLst/>
          </a:prstGeom>
          <a:noFill/>
        </p:spPr>
        <p:txBody>
          <a:bodyPr wrap="square">
            <a:normAutofit fontScale="92500" lnSpcReduction="10000"/>
          </a:bodyPr>
          <a:lstStyle/>
          <a:p>
            <a:pPr algn="l"/>
            <a:r>
              <a:rPr sz="900" b="0">
                <a:solidFill>
                  <a:srgbClr val="475569"/>
                </a:solidFill>
                <a:latin typeface="Arial"/>
              </a:rPr>
              <a:t>406</a:t>
            </a:r>
          </a:p>
        </p:txBody>
      </p:sp>
      <p:sp>
        <p:nvSpPr>
          <p:cNvPr id="44" name="TextBox 43"/>
          <p:cNvSpPr txBox="1"/>
          <p:nvPr/>
        </p:nvSpPr>
        <p:spPr>
          <a:xfrm>
            <a:off x="777240" y="5806440"/>
            <a:ext cx="10607040" cy="320040"/>
          </a:xfrm>
          <a:prstGeom prst="rect">
            <a:avLst/>
          </a:prstGeom>
          <a:noFill/>
        </p:spPr>
        <p:txBody>
          <a:bodyPr wrap="square">
            <a:normAutofit/>
          </a:bodyPr>
          <a:lstStyle/>
          <a:p>
            <a:pPr algn="l"/>
            <a:r>
              <a:rPr sz="1400" b="0">
                <a:solidFill>
                  <a:srgbClr val="475569"/>
                </a:solidFill>
                <a:latin typeface="Arial"/>
              </a:rPr>
              <a:t>Main columns: review_text, cleaned_review, sentiment, issue, data_source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sz="2800" b="1" dirty="0">
                <a:solidFill>
                  <a:srgbClr val="142A41"/>
                </a:solidFill>
                <a:latin typeface="Arial"/>
              </a:rPr>
              <a:t>Related Work</a:t>
            </a: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5/15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TextBox 5"/>
          <p:cNvSpPr txBox="1"/>
          <p:nvPr/>
        </p:nvSpPr>
        <p:spPr>
          <a:xfrm>
            <a:off x="777240" y="1143000"/>
            <a:ext cx="10698480" cy="5074920"/>
          </a:xfrm>
          <a:prstGeom prst="rect">
            <a:avLst/>
          </a:prstGeom>
          <a:noFill/>
        </p:spPr>
        <p:txBody>
          <a:bodyPr wrap="square">
            <a:normAutofit/>
          </a:bodyPr>
          <a:lstStyle/>
          <a:p>
            <a:pPr>
              <a:defRPr sz="1900">
                <a:solidFill>
                  <a:srgbClr val="0F172A"/>
                </a:solidFill>
                <a:latin typeface="Arial"/>
              </a:defRPr>
            </a:pPr>
            <a:r>
              <a:rPr lang="vi-VN" dirty="0"/>
              <a:t>• Phân loại cảm xúc là bài toán phổ biến trong NLP.</a:t>
            </a:r>
            <a:br>
              <a:rPr lang="vi-VN" dirty="0"/>
            </a:br>
            <a:r>
              <a:rPr lang="vi-VN" dirty="0"/>
              <a:t>• Các phương pháp truyền thống: Naive Bayes, Logistic Regression, SVM.</a:t>
            </a:r>
            <a:br>
              <a:rPr lang="vi-VN" dirty="0"/>
            </a:br>
            <a:r>
              <a:rPr lang="vi-VN" dirty="0"/>
              <a:t>• Cách biểu diễn văn bản phổ biến: Bag-of-Words, TF-IDF.</a:t>
            </a:r>
            <a:br>
              <a:rPr lang="vi-VN" dirty="0"/>
            </a:br>
            <a:r>
              <a:rPr lang="vi-VN" dirty="0"/>
              <a:t>• Các mô hình hiện đại: LSTM, BERT.</a:t>
            </a:r>
            <a:endParaRPr lang="vi-VN" dirty="0">
              <a:latin typeface="Arial"/>
            </a:endParaRPr>
          </a:p>
          <a:p>
            <a:pPr>
              <a:defRPr sz="1900">
                <a:solidFill>
                  <a:srgbClr val="0F172A"/>
                </a:solidFill>
                <a:latin typeface="Arial"/>
              </a:defRPr>
            </a:pPr>
            <a:r>
              <a:rPr lang="vi-VN" dirty="0">
                <a:latin typeface="Arial"/>
              </a:rPr>
              <a:t>• Project kết hợp Naive Bayes baseline, TF-IDF + Linear SVM và safe issue rules.</a:t>
            </a:r>
            <a:endParaRPr dirty="0">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sz="2800" b="1" dirty="0">
                <a:solidFill>
                  <a:srgbClr val="142A41"/>
                </a:solidFill>
                <a:latin typeface="Arial"/>
              </a:rPr>
              <a:t>Method Overview</a:t>
            </a: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6/15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Rounded Rectangle 5"/>
          <p:cNvSpPr/>
          <p:nvPr/>
        </p:nvSpPr>
        <p:spPr>
          <a:xfrm>
            <a:off x="502920" y="1234440"/>
            <a:ext cx="3154680" cy="868680"/>
          </a:xfrm>
          <a:prstGeom prst="roundRect">
            <a:avLst/>
          </a:prstGeom>
          <a:solidFill>
            <a:srgbClr val="F8FAFC"/>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417320"/>
            <a:ext cx="329184" cy="329184"/>
          </a:xfrm>
          <a:prstGeom prst="rect">
            <a:avLst/>
          </a:prstGeom>
          <a:noFill/>
        </p:spPr>
        <p:txBody>
          <a:bodyPr wrap="square">
            <a:normAutofit/>
          </a:bodyPr>
          <a:lstStyle/>
          <a:p>
            <a:pPr algn="ctr"/>
            <a:r>
              <a:rPr sz="1400" b="1">
                <a:solidFill>
                  <a:srgbClr val="0F766E"/>
                </a:solidFill>
                <a:latin typeface="Arial"/>
              </a:rPr>
              <a:t>1</a:t>
            </a:r>
          </a:p>
        </p:txBody>
      </p:sp>
      <p:sp>
        <p:nvSpPr>
          <p:cNvPr id="8" name="TextBox 7"/>
          <p:cNvSpPr txBox="1"/>
          <p:nvPr/>
        </p:nvSpPr>
        <p:spPr>
          <a:xfrm>
            <a:off x="1069848" y="1371600"/>
            <a:ext cx="2414016" cy="649224"/>
          </a:xfrm>
          <a:prstGeom prst="rect">
            <a:avLst/>
          </a:prstGeom>
          <a:noFill/>
        </p:spPr>
        <p:txBody>
          <a:bodyPr wrap="square">
            <a:normAutofit lnSpcReduction="10000"/>
          </a:bodyPr>
          <a:lstStyle/>
          <a:p>
            <a:pPr algn="l"/>
            <a:r>
              <a:rPr sz="1300" b="0" dirty="0">
                <a:solidFill>
                  <a:srgbClr val="0F172A"/>
                </a:solidFill>
                <a:latin typeface="Arial"/>
              </a:rPr>
              <a:t>Thu </a:t>
            </a:r>
            <a:r>
              <a:rPr sz="1300" b="0" dirty="0" err="1">
                <a:solidFill>
                  <a:srgbClr val="0F172A"/>
                </a:solidFill>
                <a:latin typeface="Arial"/>
              </a:rPr>
              <a:t>thập</a:t>
            </a:r>
            <a:r>
              <a:rPr sz="1300" b="0" dirty="0">
                <a:solidFill>
                  <a:srgbClr val="0F172A"/>
                </a:solidFill>
                <a:latin typeface="Arial"/>
              </a:rPr>
              <a:t> </a:t>
            </a:r>
            <a:r>
              <a:rPr sz="1300" b="0" dirty="0" err="1">
                <a:solidFill>
                  <a:srgbClr val="0F172A"/>
                </a:solidFill>
                <a:latin typeface="Arial"/>
              </a:rPr>
              <a:t>và</a:t>
            </a:r>
            <a:r>
              <a:rPr sz="1300" b="0" dirty="0">
                <a:solidFill>
                  <a:srgbClr val="0F172A"/>
                </a:solidFill>
                <a:latin typeface="Arial"/>
              </a:rPr>
              <a:t> </a:t>
            </a:r>
            <a:r>
              <a:rPr sz="1300" b="0" dirty="0" err="1">
                <a:solidFill>
                  <a:srgbClr val="0F172A"/>
                </a:solidFill>
                <a:latin typeface="Arial"/>
              </a:rPr>
              <a:t>gán</a:t>
            </a:r>
            <a:r>
              <a:rPr sz="1300" b="0" dirty="0">
                <a:solidFill>
                  <a:srgbClr val="0F172A"/>
                </a:solidFill>
                <a:latin typeface="Arial"/>
              </a:rPr>
              <a:t> </a:t>
            </a:r>
            <a:r>
              <a:rPr sz="1300" b="0" dirty="0" err="1">
                <a:solidFill>
                  <a:srgbClr val="0F172A"/>
                </a:solidFill>
                <a:latin typeface="Arial"/>
              </a:rPr>
              <a:t>nhãn</a:t>
            </a:r>
            <a:r>
              <a:rPr sz="1300" b="0" dirty="0">
                <a:solidFill>
                  <a:srgbClr val="0F172A"/>
                </a:solidFill>
                <a:latin typeface="Arial"/>
              </a:rPr>
              <a:t> review</a:t>
            </a:r>
            <a:r>
              <a:rPr lang="en-US" sz="1300" b="0" dirty="0">
                <a:solidFill>
                  <a:srgbClr val="0F172A"/>
                </a:solidFill>
                <a:latin typeface="Arial"/>
              </a:rPr>
              <a:t> (</a:t>
            </a:r>
            <a:r>
              <a:rPr lang="en-US" sz="1300" b="0" dirty="0" err="1">
                <a:solidFill>
                  <a:srgbClr val="0F172A"/>
                </a:solidFill>
                <a:latin typeface="Arial"/>
              </a:rPr>
              <a:t>đã</a:t>
            </a:r>
            <a:r>
              <a:rPr lang="en-US" sz="1300" b="0" dirty="0">
                <a:solidFill>
                  <a:srgbClr val="0F172A"/>
                </a:solidFill>
                <a:latin typeface="Arial"/>
              </a:rPr>
              <a:t> </a:t>
            </a:r>
            <a:r>
              <a:rPr lang="en-US" sz="1300" b="0" dirty="0" err="1">
                <a:solidFill>
                  <a:srgbClr val="0F172A"/>
                </a:solidFill>
                <a:latin typeface="Arial"/>
              </a:rPr>
              <a:t>được</a:t>
            </a:r>
            <a:r>
              <a:rPr lang="en-US" sz="1300" b="0" dirty="0">
                <a:solidFill>
                  <a:srgbClr val="0F172A"/>
                </a:solidFill>
                <a:latin typeface="Arial"/>
              </a:rPr>
              <a:t> </a:t>
            </a:r>
            <a:r>
              <a:rPr lang="en-US" sz="1300" b="0" dirty="0" err="1">
                <a:solidFill>
                  <a:srgbClr val="0F172A"/>
                </a:solidFill>
                <a:latin typeface="Arial"/>
              </a:rPr>
              <a:t>định</a:t>
            </a:r>
            <a:r>
              <a:rPr lang="en-US" sz="1300" b="0" dirty="0">
                <a:solidFill>
                  <a:srgbClr val="0F172A"/>
                </a:solidFill>
                <a:latin typeface="Arial"/>
              </a:rPr>
              <a:t> </a:t>
            </a:r>
            <a:r>
              <a:rPr lang="en-US" sz="1300" b="0" dirty="0" err="1">
                <a:solidFill>
                  <a:srgbClr val="0F172A"/>
                </a:solidFill>
                <a:latin typeface="Arial"/>
              </a:rPr>
              <a:t>nghĩa</a:t>
            </a:r>
            <a:r>
              <a:rPr lang="en-US" sz="1300" b="0" dirty="0">
                <a:solidFill>
                  <a:srgbClr val="0F172A"/>
                </a:solidFill>
                <a:latin typeface="Arial"/>
              </a:rPr>
              <a:t> </a:t>
            </a:r>
            <a:r>
              <a:rPr lang="en-US" sz="1300" b="0" dirty="0" err="1">
                <a:solidFill>
                  <a:srgbClr val="0F172A"/>
                </a:solidFill>
                <a:latin typeface="Arial"/>
              </a:rPr>
              <a:t>rõ</a:t>
            </a:r>
            <a:r>
              <a:rPr lang="en-US" sz="1300" b="0" dirty="0">
                <a:solidFill>
                  <a:srgbClr val="0F172A"/>
                </a:solidFill>
                <a:latin typeface="Arial"/>
              </a:rPr>
              <a:t> </a:t>
            </a:r>
            <a:r>
              <a:rPr lang="en-US" sz="1300" b="0" dirty="0" err="1">
                <a:solidFill>
                  <a:srgbClr val="0F172A"/>
                </a:solidFill>
                <a:latin typeface="Arial"/>
              </a:rPr>
              <a:t>ràng</a:t>
            </a:r>
            <a:r>
              <a:rPr lang="en-US" sz="1300" b="0" dirty="0">
                <a:solidFill>
                  <a:srgbClr val="0F172A"/>
                </a:solidFill>
                <a:latin typeface="Arial"/>
              </a:rPr>
              <a:t>)</a:t>
            </a:r>
            <a:r>
              <a:rPr sz="1300" b="0" dirty="0">
                <a:solidFill>
                  <a:srgbClr val="0F172A"/>
                </a:solidFill>
                <a:latin typeface="Arial"/>
              </a:rPr>
              <a:t> </a:t>
            </a:r>
            <a:r>
              <a:rPr lang="en-US" sz="1300" b="0" dirty="0">
                <a:solidFill>
                  <a:srgbClr val="0F172A"/>
                </a:solidFill>
                <a:latin typeface="Arial"/>
              </a:rPr>
              <a:t>ở </a:t>
            </a:r>
            <a:r>
              <a:rPr sz="1300" b="0" dirty="0">
                <a:solidFill>
                  <a:srgbClr val="0F172A"/>
                </a:solidFill>
                <a:latin typeface="Arial"/>
              </a:rPr>
              <a:t>Shopee.</a:t>
            </a:r>
          </a:p>
        </p:txBody>
      </p:sp>
      <p:sp>
        <p:nvSpPr>
          <p:cNvPr id="9" name="Rounded Rectangle 8"/>
          <p:cNvSpPr/>
          <p:nvPr/>
        </p:nvSpPr>
        <p:spPr>
          <a:xfrm>
            <a:off x="4251960" y="1234440"/>
            <a:ext cx="3154680" cy="868680"/>
          </a:xfrm>
          <a:prstGeom prst="roundRect">
            <a:avLst/>
          </a:prstGeom>
          <a:solidFill>
            <a:srgbClr val="F8FAFC"/>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16552" y="1417320"/>
            <a:ext cx="329184" cy="329184"/>
          </a:xfrm>
          <a:prstGeom prst="rect">
            <a:avLst/>
          </a:prstGeom>
          <a:noFill/>
        </p:spPr>
        <p:txBody>
          <a:bodyPr wrap="square">
            <a:normAutofit/>
          </a:bodyPr>
          <a:lstStyle/>
          <a:p>
            <a:pPr algn="ctr"/>
            <a:r>
              <a:rPr sz="1400" b="1">
                <a:solidFill>
                  <a:srgbClr val="2563EB"/>
                </a:solidFill>
                <a:latin typeface="Arial"/>
              </a:rPr>
              <a:t>2</a:t>
            </a:r>
          </a:p>
        </p:txBody>
      </p:sp>
      <p:sp>
        <p:nvSpPr>
          <p:cNvPr id="11" name="TextBox 10"/>
          <p:cNvSpPr txBox="1"/>
          <p:nvPr/>
        </p:nvSpPr>
        <p:spPr>
          <a:xfrm>
            <a:off x="4818888" y="1371600"/>
            <a:ext cx="2331720" cy="502920"/>
          </a:xfrm>
          <a:prstGeom prst="rect">
            <a:avLst/>
          </a:prstGeom>
          <a:noFill/>
        </p:spPr>
        <p:txBody>
          <a:bodyPr wrap="square">
            <a:normAutofit/>
          </a:bodyPr>
          <a:lstStyle/>
          <a:p>
            <a:pPr algn="l"/>
            <a:r>
              <a:rPr sz="1300" b="0">
                <a:solidFill>
                  <a:srgbClr val="0F172A"/>
                </a:solidFill>
                <a:latin typeface="Arial"/>
              </a:rPr>
              <a:t>Tiền xử lý văn bản review.</a:t>
            </a:r>
          </a:p>
        </p:txBody>
      </p:sp>
      <p:sp>
        <p:nvSpPr>
          <p:cNvPr id="12" name="Rounded Rectangle 11"/>
          <p:cNvSpPr/>
          <p:nvPr/>
        </p:nvSpPr>
        <p:spPr>
          <a:xfrm>
            <a:off x="8001000" y="1234440"/>
            <a:ext cx="3154680" cy="868680"/>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65592" y="1417320"/>
            <a:ext cx="329184" cy="329184"/>
          </a:xfrm>
          <a:prstGeom prst="rect">
            <a:avLst/>
          </a:prstGeom>
          <a:noFill/>
        </p:spPr>
        <p:txBody>
          <a:bodyPr wrap="square">
            <a:normAutofit/>
          </a:bodyPr>
          <a:lstStyle/>
          <a:p>
            <a:pPr algn="ctr"/>
            <a:r>
              <a:rPr sz="1400" b="1">
                <a:solidFill>
                  <a:srgbClr val="D97706"/>
                </a:solidFill>
                <a:latin typeface="Arial"/>
              </a:rPr>
              <a:t>3</a:t>
            </a:r>
          </a:p>
        </p:txBody>
      </p:sp>
      <p:sp>
        <p:nvSpPr>
          <p:cNvPr id="14" name="TextBox 13"/>
          <p:cNvSpPr txBox="1"/>
          <p:nvPr/>
        </p:nvSpPr>
        <p:spPr>
          <a:xfrm>
            <a:off x="8567928" y="1371600"/>
            <a:ext cx="2331720" cy="502920"/>
          </a:xfrm>
          <a:prstGeom prst="rect">
            <a:avLst/>
          </a:prstGeom>
          <a:noFill/>
        </p:spPr>
        <p:txBody>
          <a:bodyPr wrap="square">
            <a:normAutofit/>
          </a:bodyPr>
          <a:lstStyle/>
          <a:p>
            <a:pPr algn="l"/>
            <a:r>
              <a:rPr sz="1300" b="0" dirty="0">
                <a:solidFill>
                  <a:srgbClr val="0F172A"/>
                </a:solidFill>
                <a:latin typeface="Arial"/>
              </a:rPr>
              <a:t>Chia train/test </a:t>
            </a:r>
            <a:r>
              <a:rPr sz="1300" b="0" dirty="0" err="1">
                <a:solidFill>
                  <a:srgbClr val="0F172A"/>
                </a:solidFill>
                <a:latin typeface="Arial"/>
              </a:rPr>
              <a:t>theo</a:t>
            </a:r>
            <a:r>
              <a:rPr sz="1300" b="0" dirty="0">
                <a:solidFill>
                  <a:srgbClr val="0F172A"/>
                </a:solidFill>
                <a:latin typeface="Arial"/>
              </a:rPr>
              <a:t> </a:t>
            </a:r>
            <a:r>
              <a:rPr sz="1300" b="0" dirty="0" err="1">
                <a:solidFill>
                  <a:srgbClr val="0F172A"/>
                </a:solidFill>
                <a:latin typeface="Arial"/>
              </a:rPr>
              <a:t>tỉ</a:t>
            </a:r>
            <a:r>
              <a:rPr sz="1300" b="0" dirty="0">
                <a:solidFill>
                  <a:srgbClr val="0F172A"/>
                </a:solidFill>
                <a:latin typeface="Arial"/>
              </a:rPr>
              <a:t> </a:t>
            </a:r>
            <a:r>
              <a:rPr sz="1300" b="0" dirty="0" err="1">
                <a:solidFill>
                  <a:srgbClr val="0F172A"/>
                </a:solidFill>
                <a:latin typeface="Arial"/>
              </a:rPr>
              <a:t>lệ</a:t>
            </a:r>
            <a:r>
              <a:rPr sz="1300" b="0" dirty="0">
                <a:solidFill>
                  <a:srgbClr val="0F172A"/>
                </a:solidFill>
                <a:latin typeface="Arial"/>
              </a:rPr>
              <a:t> 80/20 </a:t>
            </a:r>
            <a:r>
              <a:rPr sz="1300" b="0" dirty="0" err="1">
                <a:solidFill>
                  <a:srgbClr val="0F172A"/>
                </a:solidFill>
                <a:latin typeface="Arial"/>
              </a:rPr>
              <a:t>và</a:t>
            </a:r>
            <a:r>
              <a:rPr sz="1300" b="0" dirty="0">
                <a:solidFill>
                  <a:srgbClr val="0F172A"/>
                </a:solidFill>
                <a:latin typeface="Arial"/>
              </a:rPr>
              <a:t> stratify </a:t>
            </a:r>
            <a:r>
              <a:rPr sz="1300" b="0" dirty="0" err="1">
                <a:solidFill>
                  <a:srgbClr val="0F172A"/>
                </a:solidFill>
                <a:latin typeface="Arial"/>
              </a:rPr>
              <a:t>theo</a:t>
            </a:r>
            <a:r>
              <a:rPr sz="1300" b="0" dirty="0">
                <a:solidFill>
                  <a:srgbClr val="0F172A"/>
                </a:solidFill>
                <a:latin typeface="Arial"/>
              </a:rPr>
              <a:t> </a:t>
            </a:r>
            <a:r>
              <a:rPr sz="1300" b="0" dirty="0" err="1">
                <a:solidFill>
                  <a:srgbClr val="0F172A"/>
                </a:solidFill>
                <a:latin typeface="Arial"/>
              </a:rPr>
              <a:t>nhãn</a:t>
            </a:r>
            <a:r>
              <a:rPr sz="1300" b="0" dirty="0">
                <a:solidFill>
                  <a:srgbClr val="0F172A"/>
                </a:solidFill>
                <a:latin typeface="Arial"/>
              </a:rPr>
              <a:t>.</a:t>
            </a:r>
          </a:p>
        </p:txBody>
      </p:sp>
      <p:sp>
        <p:nvSpPr>
          <p:cNvPr id="15" name="Rounded Rectangle 14"/>
          <p:cNvSpPr/>
          <p:nvPr/>
        </p:nvSpPr>
        <p:spPr>
          <a:xfrm>
            <a:off x="502920" y="2788920"/>
            <a:ext cx="3154680" cy="868680"/>
          </a:xfrm>
          <a:prstGeom prst="roundRect">
            <a:avLst/>
          </a:prstGeom>
          <a:solidFill>
            <a:srgbClr val="F8FAFC"/>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 y="2971800"/>
            <a:ext cx="329184" cy="329184"/>
          </a:xfrm>
          <a:prstGeom prst="rect">
            <a:avLst/>
          </a:prstGeom>
          <a:noFill/>
        </p:spPr>
        <p:txBody>
          <a:bodyPr wrap="square">
            <a:normAutofit/>
          </a:bodyPr>
          <a:lstStyle/>
          <a:p>
            <a:pPr algn="ctr"/>
            <a:r>
              <a:rPr sz="1400" b="1">
                <a:solidFill>
                  <a:srgbClr val="166534"/>
                </a:solidFill>
                <a:latin typeface="Arial"/>
              </a:rPr>
              <a:t>4</a:t>
            </a:r>
          </a:p>
        </p:txBody>
      </p:sp>
      <p:sp>
        <p:nvSpPr>
          <p:cNvPr id="17" name="TextBox 16"/>
          <p:cNvSpPr txBox="1"/>
          <p:nvPr/>
        </p:nvSpPr>
        <p:spPr>
          <a:xfrm>
            <a:off x="1069848" y="2926079"/>
            <a:ext cx="2331720" cy="502920"/>
          </a:xfrm>
          <a:prstGeom prst="rect">
            <a:avLst/>
          </a:prstGeom>
          <a:noFill/>
        </p:spPr>
        <p:txBody>
          <a:bodyPr wrap="square">
            <a:normAutofit/>
          </a:bodyPr>
          <a:lstStyle/>
          <a:p>
            <a:pPr algn="l"/>
            <a:r>
              <a:rPr sz="1300" b="0">
                <a:solidFill>
                  <a:srgbClr val="0F172A"/>
                </a:solidFill>
                <a:latin typeface="Arial"/>
              </a:rPr>
              <a:t>Chuyển văn bản thành vector TF-IDF.</a:t>
            </a:r>
          </a:p>
        </p:txBody>
      </p:sp>
      <p:sp>
        <p:nvSpPr>
          <p:cNvPr id="18" name="Rounded Rectangle 17"/>
          <p:cNvSpPr/>
          <p:nvPr/>
        </p:nvSpPr>
        <p:spPr>
          <a:xfrm>
            <a:off x="4251960" y="2788920"/>
            <a:ext cx="3154680" cy="868680"/>
          </a:xfrm>
          <a:prstGeom prst="roundRect">
            <a:avLst/>
          </a:prstGeom>
          <a:solidFill>
            <a:srgbClr val="F8FAFC"/>
          </a:solidFill>
          <a:ln w="12700">
            <a:solidFill>
              <a:srgbClr val="142A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16552" y="2971800"/>
            <a:ext cx="329184" cy="329184"/>
          </a:xfrm>
          <a:prstGeom prst="rect">
            <a:avLst/>
          </a:prstGeom>
          <a:noFill/>
        </p:spPr>
        <p:txBody>
          <a:bodyPr wrap="square">
            <a:normAutofit/>
          </a:bodyPr>
          <a:lstStyle/>
          <a:p>
            <a:pPr algn="ctr"/>
            <a:r>
              <a:rPr sz="1400" b="1" dirty="0">
                <a:solidFill>
                  <a:srgbClr val="142A41"/>
                </a:solidFill>
                <a:latin typeface="Arial"/>
              </a:rPr>
              <a:t>5</a:t>
            </a:r>
          </a:p>
        </p:txBody>
      </p:sp>
      <p:sp>
        <p:nvSpPr>
          <p:cNvPr id="20" name="TextBox 19"/>
          <p:cNvSpPr txBox="1"/>
          <p:nvPr/>
        </p:nvSpPr>
        <p:spPr>
          <a:xfrm>
            <a:off x="4818888" y="2926079"/>
            <a:ext cx="2331720" cy="502920"/>
          </a:xfrm>
          <a:prstGeom prst="rect">
            <a:avLst/>
          </a:prstGeom>
          <a:noFill/>
        </p:spPr>
        <p:txBody>
          <a:bodyPr wrap="square">
            <a:normAutofit fontScale="85000" lnSpcReduction="10000"/>
          </a:bodyPr>
          <a:lstStyle/>
          <a:p>
            <a:pPr algn="l"/>
            <a:r>
              <a:rPr dirty="0"/>
              <a:t>Train </a:t>
            </a:r>
            <a:r>
              <a:rPr dirty="0" err="1"/>
              <a:t>và</a:t>
            </a:r>
            <a:r>
              <a:rPr dirty="0"/>
              <a:t> </a:t>
            </a:r>
            <a:r>
              <a:rPr dirty="0">
                <a:latin typeface="Arial" panose="020B0604020202020204" pitchFamily="34" charset="0"/>
                <a:cs typeface="Arial" panose="020B0604020202020204" pitchFamily="34" charset="0"/>
              </a:rPr>
              <a:t>so</a:t>
            </a:r>
            <a:r>
              <a:rPr dirty="0"/>
              <a:t> </a:t>
            </a:r>
            <a:r>
              <a:rPr dirty="0" err="1"/>
              <a:t>sánh</a:t>
            </a:r>
            <a:r>
              <a:rPr dirty="0"/>
              <a:t> Naive Bayes </a:t>
            </a:r>
            <a:r>
              <a:rPr dirty="0" err="1"/>
              <a:t>với</a:t>
            </a:r>
            <a:r>
              <a:rPr dirty="0"/>
              <a:t> Linear SVM.</a:t>
            </a:r>
          </a:p>
        </p:txBody>
      </p:sp>
      <p:sp>
        <p:nvSpPr>
          <p:cNvPr id="21" name="Rounded Rectangle 20"/>
          <p:cNvSpPr/>
          <p:nvPr/>
        </p:nvSpPr>
        <p:spPr>
          <a:xfrm>
            <a:off x="8001000" y="2788920"/>
            <a:ext cx="3154680" cy="868680"/>
          </a:xfrm>
          <a:prstGeom prst="roundRect">
            <a:avLst/>
          </a:prstGeom>
          <a:solidFill>
            <a:srgbClr val="F8FAFC"/>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65592" y="2971800"/>
            <a:ext cx="329184" cy="329184"/>
          </a:xfrm>
          <a:prstGeom prst="rect">
            <a:avLst/>
          </a:prstGeom>
          <a:noFill/>
        </p:spPr>
        <p:txBody>
          <a:bodyPr wrap="square">
            <a:normAutofit/>
          </a:bodyPr>
          <a:lstStyle/>
          <a:p>
            <a:pPr algn="ctr"/>
            <a:r>
              <a:rPr sz="1400" b="1">
                <a:solidFill>
                  <a:srgbClr val="0F766E"/>
                </a:solidFill>
                <a:latin typeface="Arial"/>
              </a:rPr>
              <a:t>6</a:t>
            </a:r>
          </a:p>
        </p:txBody>
      </p:sp>
      <p:sp>
        <p:nvSpPr>
          <p:cNvPr id="23" name="TextBox 22"/>
          <p:cNvSpPr txBox="1"/>
          <p:nvPr/>
        </p:nvSpPr>
        <p:spPr>
          <a:xfrm>
            <a:off x="8567928" y="2926079"/>
            <a:ext cx="2331720" cy="502920"/>
          </a:xfrm>
          <a:prstGeom prst="rect">
            <a:avLst/>
          </a:prstGeom>
          <a:noFill/>
        </p:spPr>
        <p:txBody>
          <a:bodyPr wrap="square">
            <a:normAutofit/>
          </a:bodyPr>
          <a:lstStyle/>
          <a:p>
            <a:pPr algn="l"/>
            <a:r>
              <a:rPr sz="1300" b="0">
                <a:solidFill>
                  <a:srgbClr val="0F172A"/>
                </a:solidFill>
                <a:latin typeface="Arial"/>
              </a:rPr>
              <a:t>Áp dụng safe issue rules cho các lỗi rõ ràng.</a:t>
            </a:r>
          </a:p>
        </p:txBody>
      </p:sp>
      <p:sp>
        <p:nvSpPr>
          <p:cNvPr id="24" name="Rounded Rectangle 23"/>
          <p:cNvSpPr/>
          <p:nvPr/>
        </p:nvSpPr>
        <p:spPr>
          <a:xfrm>
            <a:off x="4251960" y="4343400"/>
            <a:ext cx="3154680" cy="868680"/>
          </a:xfrm>
          <a:prstGeom prst="roundRect">
            <a:avLst/>
          </a:prstGeom>
          <a:solidFill>
            <a:srgbClr val="F8FAFC"/>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16552" y="4526280"/>
            <a:ext cx="329184" cy="329184"/>
          </a:xfrm>
          <a:prstGeom prst="rect">
            <a:avLst/>
          </a:prstGeom>
          <a:noFill/>
        </p:spPr>
        <p:txBody>
          <a:bodyPr wrap="square">
            <a:normAutofit/>
          </a:bodyPr>
          <a:lstStyle/>
          <a:p>
            <a:pPr algn="ctr"/>
            <a:r>
              <a:rPr sz="1400" b="1">
                <a:solidFill>
                  <a:srgbClr val="2563EB"/>
                </a:solidFill>
                <a:latin typeface="Arial"/>
              </a:rPr>
              <a:t>7</a:t>
            </a:r>
          </a:p>
        </p:txBody>
      </p:sp>
      <p:sp>
        <p:nvSpPr>
          <p:cNvPr id="26" name="TextBox 25"/>
          <p:cNvSpPr txBox="1"/>
          <p:nvPr/>
        </p:nvSpPr>
        <p:spPr>
          <a:xfrm>
            <a:off x="4818888" y="4480560"/>
            <a:ext cx="2331720" cy="502920"/>
          </a:xfrm>
          <a:prstGeom prst="rect">
            <a:avLst/>
          </a:prstGeom>
          <a:noFill/>
        </p:spPr>
        <p:txBody>
          <a:bodyPr wrap="square">
            <a:normAutofit fontScale="85000" lnSpcReduction="20000"/>
          </a:bodyPr>
          <a:lstStyle/>
          <a:p>
            <a:pPr algn="l"/>
            <a:r>
              <a:rPr sz="1300" b="0">
                <a:solidFill>
                  <a:srgbClr val="0F172A"/>
                </a:solidFill>
                <a:latin typeface="Arial"/>
              </a:rPr>
              <a:t>Đánh giá bằng Accuracy, Macro F1, classification report và confusion matrix.</a:t>
            </a:r>
          </a:p>
        </p:txBody>
      </p:sp>
      <p:sp>
        <p:nvSpPr>
          <p:cNvPr id="27" name="TextBox 26"/>
          <p:cNvSpPr txBox="1"/>
          <p:nvPr/>
        </p:nvSpPr>
        <p:spPr>
          <a:xfrm>
            <a:off x="731520" y="5806440"/>
            <a:ext cx="10515600" cy="292608"/>
          </a:xfrm>
          <a:prstGeom prst="rect">
            <a:avLst/>
          </a:prstGeom>
          <a:noFill/>
        </p:spPr>
        <p:txBody>
          <a:bodyPr wrap="square">
            <a:normAutofit fontScale="92500" lnSpcReduction="20000"/>
          </a:bodyPr>
          <a:lstStyle/>
          <a:p>
            <a:pPr algn="ctr"/>
            <a:r>
              <a:rPr sz="1600" b="1">
                <a:solidFill>
                  <a:srgbClr val="142A41"/>
                </a:solidFill>
                <a:latin typeface="Arial"/>
              </a:rPr>
              <a:t>Repeatable training and evaluation pipeline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sz="2800" b="1">
                <a:solidFill>
                  <a:srgbClr val="142A41"/>
                </a:solidFill>
                <a:latin typeface="Arial"/>
              </a:rPr>
              <a:t>Preprocessing and Features</a:t>
            </a: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7/15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TextBox 5"/>
          <p:cNvSpPr txBox="1"/>
          <p:nvPr/>
        </p:nvSpPr>
        <p:spPr>
          <a:xfrm>
            <a:off x="777240" y="1143000"/>
            <a:ext cx="10698480" cy="5074920"/>
          </a:xfrm>
          <a:prstGeom prst="rect">
            <a:avLst/>
          </a:prstGeom>
          <a:noFill/>
        </p:spPr>
        <p:txBody>
          <a:bodyPr wrap="square">
            <a:normAutofit/>
          </a:bodyPr>
          <a:lstStyle/>
          <a:p>
            <a:pPr>
              <a:defRPr sz="1900">
                <a:solidFill>
                  <a:srgbClr val="0F172A"/>
                </a:solidFill>
                <a:latin typeface="Arial"/>
              </a:defRPr>
            </a:pPr>
            <a:r>
              <a:rPr>
                <a:latin typeface="Arial"/>
              </a:rPr>
              <a:t>• File tiền xử lý chính: src/preprocess.py.</a:t>
            </a:r>
          </a:p>
          <a:p>
            <a:pPr>
              <a:defRPr sz="1900">
                <a:solidFill>
                  <a:srgbClr val="0F172A"/>
                </a:solidFill>
                <a:latin typeface="Arial"/>
              </a:defRPr>
            </a:pPr>
            <a:r>
              <a:rPr>
                <a:latin typeface="Arial"/>
              </a:rPr>
              <a:t>• Các bước chính:</a:t>
            </a:r>
          </a:p>
          <a:p>
            <a:pPr lvl="1">
              <a:defRPr sz="1600">
                <a:solidFill>
                  <a:srgbClr val="475569"/>
                </a:solidFill>
                <a:latin typeface="Arial"/>
              </a:defRPr>
            </a:pPr>
            <a:r>
              <a:rPr>
                <a:latin typeface="Arial"/>
              </a:rPr>
              <a:t>• Chuẩn hóa Unicode và chuyển chữ thường.</a:t>
            </a:r>
          </a:p>
          <a:p>
            <a:pPr lvl="1">
              <a:defRPr sz="1600">
                <a:solidFill>
                  <a:srgbClr val="475569"/>
                </a:solidFill>
                <a:latin typeface="Arial"/>
              </a:defRPr>
            </a:pPr>
            <a:r>
              <a:rPr>
                <a:latin typeface="Arial"/>
              </a:rPr>
              <a:t>• Chuẩn hóa teencode thương mại điện tử như ko, k, dc, sp.</a:t>
            </a:r>
          </a:p>
          <a:p>
            <a:pPr lvl="1">
              <a:defRPr sz="1600">
                <a:solidFill>
                  <a:srgbClr val="475569"/>
                </a:solidFill>
                <a:latin typeface="Arial"/>
              </a:defRPr>
            </a:pPr>
            <a:r>
              <a:rPr>
                <a:latin typeface="Arial"/>
              </a:rPr>
              <a:t>• Xóa URL, emoji và ký tự nhiễu.</a:t>
            </a:r>
          </a:p>
          <a:p>
            <a:pPr lvl="1">
              <a:defRPr sz="1600">
                <a:solidFill>
                  <a:srgbClr val="475569"/>
                </a:solidFill>
                <a:latin typeface="Arial"/>
              </a:defRPr>
            </a:pPr>
            <a:r>
              <a:rPr>
                <a:latin typeface="Arial"/>
              </a:rPr>
              <a:t>• Giữ lại từ quan trọng như khong, chua, loi, cham, sai.</a:t>
            </a:r>
          </a:p>
          <a:p>
            <a:pPr>
              <a:defRPr sz="1900">
                <a:solidFill>
                  <a:srgbClr val="0F172A"/>
                </a:solidFill>
                <a:latin typeface="Arial"/>
              </a:defRPr>
            </a:pPr>
            <a:r>
              <a:rPr>
                <a:latin typeface="Arial"/>
              </a:rPr>
              <a:t>• Đặc trưng:</a:t>
            </a:r>
          </a:p>
          <a:p>
            <a:pPr lvl="1">
              <a:defRPr sz="1600">
                <a:solidFill>
                  <a:srgbClr val="475569"/>
                </a:solidFill>
                <a:latin typeface="Arial"/>
              </a:defRPr>
            </a:pPr>
            <a:r>
              <a:rPr>
                <a:latin typeface="Arial"/>
              </a:rPr>
              <a:t>• Sentiment: TF-IDF unigram + bigram.</a:t>
            </a:r>
          </a:p>
          <a:p>
            <a:pPr lvl="1">
              <a:defRPr sz="1600">
                <a:solidFill>
                  <a:srgbClr val="475569"/>
                </a:solidFill>
                <a:latin typeface="Arial"/>
              </a:defRPr>
            </a:pPr>
            <a:r>
              <a:rPr>
                <a:latin typeface="Arial"/>
              </a:rPr>
              <a:t>• Issue: TF-IDF word + character n-grams.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sz="2800" b="1" dirty="0">
                <a:solidFill>
                  <a:srgbClr val="142A41"/>
                </a:solidFill>
                <a:latin typeface="Arial"/>
              </a:rPr>
              <a:t>Models and Baseline</a:t>
            </a: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8/15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TextBox 5"/>
          <p:cNvSpPr txBox="1"/>
          <p:nvPr/>
        </p:nvSpPr>
        <p:spPr>
          <a:xfrm>
            <a:off x="777240" y="1143000"/>
            <a:ext cx="10698480" cy="5074920"/>
          </a:xfrm>
          <a:prstGeom prst="rect">
            <a:avLst/>
          </a:prstGeom>
          <a:noFill/>
        </p:spPr>
        <p:txBody>
          <a:bodyPr wrap="square">
            <a:normAutofit/>
          </a:bodyPr>
          <a:lstStyle/>
          <a:p>
            <a:pPr>
              <a:defRPr sz="1550">
                <a:solidFill>
                  <a:srgbClr val="0F172A"/>
                </a:solidFill>
                <a:latin typeface="Arial"/>
                <a:ea typeface="Arial"/>
              </a:defRPr>
            </a:pPr>
            <a:r>
              <a:rPr lang="vi-VN" dirty="0">
                <a:latin typeface="Arial"/>
                <a:ea typeface="Arial"/>
              </a:rPr>
              <a:t>• Baseline model:</a:t>
            </a:r>
          </a:p>
          <a:p>
            <a:pPr>
              <a:defRPr sz="1550">
                <a:solidFill>
                  <a:srgbClr val="0F172A"/>
                </a:solidFill>
                <a:latin typeface="Arial"/>
                <a:ea typeface="Arial"/>
              </a:defRPr>
            </a:pPr>
            <a:r>
              <a:rPr lang="vi-VN" dirty="0">
                <a:latin typeface="Arial"/>
                <a:ea typeface="Arial"/>
              </a:rPr>
              <a:t>  • Multinomial Naive Bayes</a:t>
            </a:r>
          </a:p>
          <a:p>
            <a:pPr>
              <a:defRPr sz="1550">
                <a:solidFill>
                  <a:srgbClr val="0F172A"/>
                </a:solidFill>
                <a:latin typeface="Arial"/>
                <a:ea typeface="Arial"/>
              </a:defRPr>
            </a:pPr>
            <a:r>
              <a:rPr lang="vi-VN" dirty="0">
                <a:latin typeface="Arial"/>
                <a:ea typeface="Arial"/>
              </a:rPr>
              <a:t>  • unigram + bigram đếm tần suất</a:t>
            </a:r>
          </a:p>
          <a:p>
            <a:pPr>
              <a:defRPr sz="1550">
                <a:solidFill>
                  <a:srgbClr val="0F172A"/>
                </a:solidFill>
                <a:latin typeface="Arial"/>
                <a:ea typeface="Arial"/>
              </a:defRPr>
            </a:pPr>
            <a:r>
              <a:rPr lang="vi-VN" dirty="0">
                <a:latin typeface="Arial"/>
                <a:ea typeface="Arial"/>
              </a:rPr>
              <a:t>  </a:t>
            </a:r>
          </a:p>
          <a:p>
            <a:pPr>
              <a:defRPr sz="1550">
                <a:solidFill>
                  <a:srgbClr val="0F172A"/>
                </a:solidFill>
                <a:latin typeface="Arial"/>
                <a:ea typeface="Arial"/>
              </a:defRPr>
            </a:pPr>
            <a:r>
              <a:rPr lang="vi-VN" dirty="0">
                <a:latin typeface="Arial"/>
                <a:ea typeface="Arial"/>
              </a:rPr>
              <a:t>• Strong model:</a:t>
            </a:r>
          </a:p>
          <a:p>
            <a:pPr>
              <a:defRPr sz="1550">
                <a:solidFill>
                  <a:srgbClr val="0F172A"/>
                </a:solidFill>
                <a:latin typeface="Arial"/>
                <a:ea typeface="Arial"/>
              </a:defRPr>
            </a:pPr>
            <a:r>
              <a:rPr lang="vi-VN" dirty="0">
                <a:latin typeface="Arial"/>
                <a:ea typeface="Arial"/>
              </a:rPr>
              <a:t>  • TF-IDF + Linear SVM</a:t>
            </a:r>
          </a:p>
          <a:p>
            <a:pPr>
              <a:defRPr sz="1550">
                <a:solidFill>
                  <a:srgbClr val="0F172A"/>
                </a:solidFill>
                <a:latin typeface="Arial"/>
                <a:ea typeface="Arial"/>
              </a:defRPr>
            </a:pPr>
            <a:endParaRPr lang="vi-VN" dirty="0">
              <a:latin typeface="Arial"/>
              <a:ea typeface="Arial"/>
            </a:endParaRPr>
          </a:p>
          <a:p>
            <a:pPr>
              <a:defRPr sz="1550">
                <a:solidFill>
                  <a:srgbClr val="0F172A"/>
                </a:solidFill>
                <a:latin typeface="Arial"/>
                <a:ea typeface="Arial"/>
              </a:defRPr>
            </a:pPr>
            <a:r>
              <a:rPr lang="vi-VN" dirty="0">
                <a:latin typeface="Arial"/>
                <a:ea typeface="Arial"/>
              </a:rPr>
              <a:t>• Rule layer:</a:t>
            </a:r>
          </a:p>
          <a:p>
            <a:pPr>
              <a:defRPr sz="1550">
                <a:solidFill>
                  <a:srgbClr val="0F172A"/>
                </a:solidFill>
                <a:latin typeface="Arial"/>
                <a:ea typeface="Arial"/>
              </a:defRPr>
            </a:pPr>
            <a:r>
              <a:rPr lang="vi-VN" dirty="0">
                <a:latin typeface="Arial"/>
                <a:ea typeface="Arial"/>
              </a:rPr>
              <a:t>  • Safe issue rules cho các lỗi rõ ràng trong bài toán issue</a:t>
            </a:r>
          </a:p>
          <a:p>
            <a:pPr>
              <a:defRPr sz="1550">
                <a:solidFill>
                  <a:srgbClr val="0F172A"/>
                </a:solidFill>
                <a:latin typeface="Arial"/>
                <a:ea typeface="Arial"/>
              </a:defRPr>
            </a:pPr>
            <a:endParaRPr lang="vi-VN" dirty="0">
              <a:latin typeface="Arial"/>
              <a:ea typeface="Arial"/>
            </a:endParaRPr>
          </a:p>
          <a:p>
            <a:pPr>
              <a:defRPr sz="1550">
                <a:solidFill>
                  <a:srgbClr val="0F172A"/>
                </a:solidFill>
                <a:latin typeface="Arial"/>
                <a:ea typeface="Arial"/>
              </a:defRPr>
            </a:pPr>
            <a:r>
              <a:rPr lang="vi-VN" dirty="0">
                <a:latin typeface="Arial"/>
                <a:ea typeface="Arial"/>
              </a:rPr>
              <a:t>• Final models:</a:t>
            </a:r>
          </a:p>
          <a:p>
            <a:pPr>
              <a:defRPr sz="1550">
                <a:solidFill>
                  <a:srgbClr val="0F172A"/>
                </a:solidFill>
                <a:latin typeface="Arial"/>
                <a:ea typeface="Arial"/>
              </a:defRPr>
            </a:pPr>
            <a:r>
              <a:rPr lang="vi-VN" dirty="0">
                <a:latin typeface="Arial"/>
                <a:ea typeface="Arial"/>
              </a:rPr>
              <a:t>  • Sentiment: TF-IDF word unigram + bigram + Linear SVM</a:t>
            </a:r>
          </a:p>
          <a:p>
            <a:pPr>
              <a:defRPr sz="1550">
                <a:solidFill>
                  <a:srgbClr val="0F172A"/>
                </a:solidFill>
                <a:latin typeface="Arial"/>
                <a:ea typeface="Arial"/>
              </a:defRPr>
            </a:pPr>
            <a:r>
              <a:rPr lang="vi-VN" dirty="0">
                <a:latin typeface="Arial"/>
                <a:ea typeface="Arial"/>
              </a:rPr>
              <a:t>  • Issue: TF-IDF word/char n-grams + Linear SVM + safe issue rules</a:t>
            </a:r>
            <a:endParaRPr dirty="0">
              <a:latin typeface="Arial"/>
              <a:ea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sz="2800" b="1" dirty="0">
                <a:solidFill>
                  <a:srgbClr val="142A41"/>
                </a:solidFill>
                <a:latin typeface="Arial"/>
              </a:rPr>
              <a:t>Models and Baseline</a:t>
            </a: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8/15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TextBox 5"/>
          <p:cNvSpPr txBox="1"/>
          <p:nvPr/>
        </p:nvSpPr>
        <p:spPr>
          <a:xfrm>
            <a:off x="777240" y="1143000"/>
            <a:ext cx="10698480" cy="5074920"/>
          </a:xfrm>
          <a:prstGeom prst="rect">
            <a:avLst/>
          </a:prstGeom>
          <a:noFill/>
        </p:spPr>
        <p:txBody>
          <a:bodyPr wrap="square">
            <a:normAutofit/>
          </a:bodyPr>
          <a:lstStyle/>
          <a:p>
            <a:pPr>
              <a:defRPr sz="1550">
                <a:solidFill>
                  <a:srgbClr val="0F172A"/>
                </a:solidFill>
                <a:latin typeface="Arial"/>
                <a:ea typeface="Arial"/>
              </a:defRPr>
            </a:pPr>
            <a:r>
              <a:rPr lang="vi-VN" dirty="0">
                <a:latin typeface="Arial"/>
                <a:ea typeface="Arial"/>
              </a:rPr>
              <a:t>• Naive Bayes là mô hình phân loại dựa trên xác suất Bayes.</a:t>
            </a:r>
          </a:p>
          <a:p>
            <a:pPr>
              <a:defRPr sz="1550">
                <a:solidFill>
                  <a:srgbClr val="0F172A"/>
                </a:solidFill>
                <a:latin typeface="Arial"/>
                <a:ea typeface="Arial"/>
              </a:defRPr>
            </a:pPr>
            <a:r>
              <a:rPr lang="vi-VN" dirty="0">
                <a:latin typeface="Arial"/>
                <a:ea typeface="Arial"/>
              </a:rPr>
              <a:t>• Ý tưởng:</a:t>
            </a:r>
          </a:p>
          <a:p>
            <a:pPr>
              <a:defRPr sz="1550">
                <a:solidFill>
                  <a:srgbClr val="0F172A"/>
                </a:solidFill>
                <a:latin typeface="Arial"/>
                <a:ea typeface="Arial"/>
              </a:defRPr>
            </a:pPr>
            <a:r>
              <a:rPr lang="vi-VN" dirty="0">
                <a:latin typeface="Arial"/>
                <a:ea typeface="Arial"/>
              </a:rPr>
              <a:t>  • Tính xác suất một review thuộc từng lớp.</a:t>
            </a:r>
          </a:p>
          <a:p>
            <a:pPr>
              <a:defRPr sz="1550">
                <a:solidFill>
                  <a:srgbClr val="0F172A"/>
                </a:solidFill>
                <a:latin typeface="Arial"/>
                <a:ea typeface="Arial"/>
              </a:defRPr>
            </a:pPr>
            <a:r>
              <a:rPr lang="vi-VN" dirty="0">
                <a:latin typeface="Arial"/>
                <a:ea typeface="Arial"/>
              </a:rPr>
              <a:t>  • Chọn lớp có xác suất lớn nhất.</a:t>
            </a:r>
          </a:p>
          <a:p>
            <a:pPr>
              <a:defRPr sz="1550">
                <a:solidFill>
                  <a:srgbClr val="0F172A"/>
                </a:solidFill>
                <a:latin typeface="Arial"/>
                <a:ea typeface="Arial"/>
              </a:defRPr>
            </a:pPr>
            <a:r>
              <a:rPr lang="vi-VN" dirty="0">
                <a:latin typeface="Arial"/>
                <a:ea typeface="Arial"/>
              </a:rPr>
              <a:t>  • Giả định các từ độc lập có điều kiện theo lớp.</a:t>
            </a:r>
          </a:p>
          <a:p>
            <a:pPr>
              <a:defRPr sz="1550">
                <a:solidFill>
                  <a:srgbClr val="0F172A"/>
                </a:solidFill>
                <a:latin typeface="Arial"/>
                <a:ea typeface="Arial"/>
              </a:defRPr>
            </a:pPr>
            <a:endParaRPr lang="vi-VN" dirty="0">
              <a:latin typeface="Arial"/>
              <a:ea typeface="Arial"/>
            </a:endParaRPr>
          </a:p>
          <a:p>
            <a:pPr>
              <a:defRPr sz="1550">
                <a:solidFill>
                  <a:srgbClr val="0F172A"/>
                </a:solidFill>
                <a:latin typeface="Arial"/>
                <a:ea typeface="Arial"/>
              </a:defRPr>
            </a:pPr>
            <a:r>
              <a:rPr lang="vi-VN" dirty="0">
                <a:latin typeface="Arial"/>
                <a:ea typeface="Arial"/>
              </a:rPr>
              <a:t>• Công thức:</a:t>
            </a:r>
          </a:p>
          <a:p>
            <a:pPr>
              <a:defRPr sz="1550">
                <a:solidFill>
                  <a:srgbClr val="0F172A"/>
                </a:solidFill>
                <a:latin typeface="Arial"/>
                <a:ea typeface="Arial"/>
              </a:defRPr>
            </a:pPr>
            <a:endParaRPr lang="en-US" dirty="0">
              <a:latin typeface="Arial"/>
              <a:ea typeface="Arial"/>
            </a:endParaRPr>
          </a:p>
          <a:p>
            <a:pPr>
              <a:defRPr sz="1550">
                <a:solidFill>
                  <a:srgbClr val="0F172A"/>
                </a:solidFill>
                <a:latin typeface="Arial"/>
                <a:ea typeface="Arial"/>
              </a:defRPr>
            </a:pPr>
            <a:endParaRPr lang="vi-VN" dirty="0">
              <a:latin typeface="Arial"/>
              <a:ea typeface="Arial"/>
            </a:endParaRPr>
          </a:p>
          <a:p>
            <a:pPr>
              <a:defRPr sz="1550">
                <a:solidFill>
                  <a:srgbClr val="0F172A"/>
                </a:solidFill>
                <a:latin typeface="Arial"/>
                <a:ea typeface="Arial"/>
              </a:defRPr>
            </a:pPr>
            <a:r>
              <a:rPr lang="vi-VN" dirty="0">
                <a:latin typeface="Arial"/>
                <a:ea typeface="Arial"/>
              </a:rPr>
              <a:t>• Với Laplace smoothing:</a:t>
            </a:r>
          </a:p>
          <a:p>
            <a:pPr>
              <a:defRPr sz="1550">
                <a:solidFill>
                  <a:srgbClr val="0F172A"/>
                </a:solidFill>
                <a:latin typeface="Arial"/>
                <a:ea typeface="Arial"/>
              </a:defRPr>
            </a:pPr>
            <a:r>
              <a:rPr lang="vi-VN" dirty="0">
                <a:latin typeface="Arial"/>
                <a:ea typeface="Arial"/>
              </a:rPr>
              <a:t>  </a:t>
            </a:r>
          </a:p>
          <a:p>
            <a:pPr>
              <a:defRPr sz="1550">
                <a:solidFill>
                  <a:srgbClr val="0F172A"/>
                </a:solidFill>
                <a:latin typeface="Arial"/>
                <a:ea typeface="Arial"/>
              </a:defRPr>
            </a:pPr>
            <a:endParaRPr lang="en-US" dirty="0">
              <a:latin typeface="Arial"/>
              <a:ea typeface="Arial"/>
            </a:endParaRPr>
          </a:p>
        </p:txBody>
      </p:sp>
      <p:pic>
        <p:nvPicPr>
          <p:cNvPr id="24" name="Picture 23">
            <a:extLst>
              <a:ext uri="{FF2B5EF4-FFF2-40B4-BE49-F238E27FC236}">
                <a16:creationId xmlns:a16="http://schemas.microsoft.com/office/drawing/2014/main" id="{E4EFD0DE-EF9A-FEE2-10A0-11C2FC1F55E5}"/>
              </a:ext>
            </a:extLst>
          </p:cNvPr>
          <p:cNvPicPr>
            <a:picLocks noChangeAspect="1"/>
          </p:cNvPicPr>
          <p:nvPr/>
        </p:nvPicPr>
        <p:blipFill>
          <a:blip r:embed="rId2"/>
          <a:stretch>
            <a:fillRect/>
          </a:stretch>
        </p:blipFill>
        <p:spPr>
          <a:xfrm>
            <a:off x="905256" y="2834544"/>
            <a:ext cx="2772162" cy="457264"/>
          </a:xfrm>
          <a:prstGeom prst="rect">
            <a:avLst/>
          </a:prstGeom>
        </p:spPr>
      </p:pic>
      <p:pic>
        <p:nvPicPr>
          <p:cNvPr id="26" name="Picture 25">
            <a:extLst>
              <a:ext uri="{FF2B5EF4-FFF2-40B4-BE49-F238E27FC236}">
                <a16:creationId xmlns:a16="http://schemas.microsoft.com/office/drawing/2014/main" id="{43F3AFFD-284D-3142-6302-0AD8AE223843}"/>
              </a:ext>
            </a:extLst>
          </p:cNvPr>
          <p:cNvPicPr>
            <a:picLocks noChangeAspect="1"/>
          </p:cNvPicPr>
          <p:nvPr/>
        </p:nvPicPr>
        <p:blipFill>
          <a:blip r:embed="rId3"/>
          <a:stretch>
            <a:fillRect/>
          </a:stretch>
        </p:blipFill>
        <p:spPr>
          <a:xfrm>
            <a:off x="1022067" y="3566193"/>
            <a:ext cx="2229161" cy="409632"/>
          </a:xfrm>
          <a:prstGeom prst="rect">
            <a:avLst/>
          </a:prstGeom>
        </p:spPr>
      </p:pic>
    </p:spTree>
    <p:extLst>
      <p:ext uri="{BB962C8B-B14F-4D97-AF65-F5344CB8AC3E}">
        <p14:creationId xmlns:p14="http://schemas.microsoft.com/office/powerpoint/2010/main" val="261470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sz="2800" b="1" dirty="0">
                <a:solidFill>
                  <a:srgbClr val="142A41"/>
                </a:solidFill>
                <a:latin typeface="Arial"/>
              </a:rPr>
              <a:t>Models and Baseline</a:t>
            </a: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8/15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TextBox 5"/>
          <p:cNvSpPr txBox="1"/>
          <p:nvPr/>
        </p:nvSpPr>
        <p:spPr>
          <a:xfrm>
            <a:off x="777240" y="1143000"/>
            <a:ext cx="10698480" cy="5074920"/>
          </a:xfrm>
          <a:prstGeom prst="rect">
            <a:avLst/>
          </a:prstGeom>
          <a:noFill/>
        </p:spPr>
        <p:txBody>
          <a:bodyPr wrap="square">
            <a:normAutofit/>
          </a:bodyPr>
          <a:lstStyle/>
          <a:p>
            <a:pPr>
              <a:defRPr sz="1550">
                <a:solidFill>
                  <a:srgbClr val="0F172A"/>
                </a:solidFill>
                <a:latin typeface="Arial"/>
                <a:ea typeface="Arial"/>
              </a:defRPr>
            </a:pPr>
            <a:r>
              <a:rPr lang="vi-VN" dirty="0">
                <a:latin typeface="Arial"/>
                <a:ea typeface="Arial"/>
              </a:rPr>
              <a:t>TF-IDF</a:t>
            </a:r>
          </a:p>
          <a:p>
            <a:pPr>
              <a:defRPr sz="1550">
                <a:solidFill>
                  <a:srgbClr val="0F172A"/>
                </a:solidFill>
                <a:latin typeface="Arial"/>
                <a:ea typeface="Arial"/>
              </a:defRPr>
            </a:pPr>
            <a:r>
              <a:rPr lang="vi-VN" dirty="0">
                <a:latin typeface="Arial"/>
                <a:ea typeface="Arial"/>
              </a:rPr>
              <a:t>• Mục đích:</a:t>
            </a:r>
          </a:p>
          <a:p>
            <a:pPr>
              <a:defRPr sz="1550">
                <a:solidFill>
                  <a:srgbClr val="0F172A"/>
                </a:solidFill>
                <a:latin typeface="Arial"/>
                <a:ea typeface="Arial"/>
              </a:defRPr>
            </a:pPr>
            <a:r>
              <a:rPr lang="vi-VN" dirty="0">
                <a:latin typeface="Arial"/>
                <a:ea typeface="Arial"/>
              </a:rPr>
              <a:t>  Biến văn bản review thành vector số để mô hình học máy xử lý được.</a:t>
            </a:r>
          </a:p>
          <a:p>
            <a:pPr>
              <a:defRPr sz="1550">
                <a:solidFill>
                  <a:srgbClr val="0F172A"/>
                </a:solidFill>
                <a:latin typeface="Arial"/>
                <a:ea typeface="Arial"/>
              </a:defRPr>
            </a:pPr>
            <a:endParaRPr lang="vi-VN" dirty="0">
              <a:latin typeface="Arial"/>
              <a:ea typeface="Arial"/>
            </a:endParaRPr>
          </a:p>
          <a:p>
            <a:pPr>
              <a:defRPr sz="1550">
                <a:solidFill>
                  <a:srgbClr val="0F172A"/>
                </a:solidFill>
                <a:latin typeface="Arial"/>
                <a:ea typeface="Arial"/>
              </a:defRPr>
            </a:pPr>
            <a:r>
              <a:rPr lang="vi-VN" dirty="0">
                <a:latin typeface="Arial"/>
                <a:ea typeface="Arial"/>
              </a:rPr>
              <a:t>• Ý tưởng:</a:t>
            </a:r>
          </a:p>
          <a:p>
            <a:pPr>
              <a:defRPr sz="1550">
                <a:solidFill>
                  <a:srgbClr val="0F172A"/>
                </a:solidFill>
                <a:latin typeface="Arial"/>
                <a:ea typeface="Arial"/>
              </a:defRPr>
            </a:pPr>
            <a:r>
              <a:rPr lang="vi-VN" dirty="0">
                <a:latin typeface="Arial"/>
                <a:ea typeface="Arial"/>
              </a:rPr>
              <a:t>  Từ/cụm từ quan trọng là từ xuất hiện nhiều trong một review</a:t>
            </a:r>
          </a:p>
          <a:p>
            <a:pPr>
              <a:defRPr sz="1550">
                <a:solidFill>
                  <a:srgbClr val="0F172A"/>
                </a:solidFill>
                <a:latin typeface="Arial"/>
                <a:ea typeface="Arial"/>
              </a:defRPr>
            </a:pPr>
            <a:r>
              <a:rPr lang="vi-VN" dirty="0">
                <a:latin typeface="Arial"/>
                <a:ea typeface="Arial"/>
              </a:rPr>
              <a:t>  nhưng không xuất hiện quá phổ biến trong toàn bộ dataset.</a:t>
            </a:r>
          </a:p>
          <a:p>
            <a:pPr>
              <a:defRPr sz="1550">
                <a:solidFill>
                  <a:srgbClr val="0F172A"/>
                </a:solidFill>
                <a:latin typeface="Arial"/>
                <a:ea typeface="Arial"/>
              </a:defRPr>
            </a:pPr>
            <a:endParaRPr lang="vi-VN" dirty="0">
              <a:latin typeface="Arial"/>
              <a:ea typeface="Arial"/>
            </a:endParaRPr>
          </a:p>
          <a:p>
            <a:pPr>
              <a:defRPr sz="1550">
                <a:solidFill>
                  <a:srgbClr val="0F172A"/>
                </a:solidFill>
                <a:latin typeface="Arial"/>
                <a:ea typeface="Arial"/>
              </a:defRPr>
            </a:pPr>
            <a:r>
              <a:rPr lang="vi-VN" dirty="0">
                <a:latin typeface="Arial"/>
                <a:ea typeface="Arial"/>
              </a:rPr>
              <a:t> Bước 1: Tạo vocabulary từ tập train</a:t>
            </a:r>
          </a:p>
          <a:p>
            <a:pPr>
              <a:defRPr sz="1550">
                <a:solidFill>
                  <a:srgbClr val="0F172A"/>
                </a:solidFill>
                <a:latin typeface="Arial"/>
                <a:ea typeface="Arial"/>
              </a:defRPr>
            </a:pPr>
            <a:r>
              <a:rPr lang="en-US" dirty="0">
                <a:latin typeface="Arial"/>
                <a:ea typeface="Arial"/>
              </a:rPr>
              <a:t> </a:t>
            </a:r>
            <a:r>
              <a:rPr lang="vi-VN" dirty="0">
                <a:latin typeface="Arial"/>
                <a:ea typeface="Arial"/>
              </a:rPr>
              <a:t>Bước 2: Mỗi feature là một chiều vector</a:t>
            </a:r>
            <a:endParaRPr lang="en-US" dirty="0">
              <a:latin typeface="Arial"/>
              <a:ea typeface="Arial"/>
            </a:endParaRPr>
          </a:p>
          <a:p>
            <a:pPr>
              <a:defRPr sz="1550">
                <a:solidFill>
                  <a:srgbClr val="0F172A"/>
                </a:solidFill>
                <a:latin typeface="Arial"/>
                <a:ea typeface="Arial"/>
              </a:defRPr>
            </a:pPr>
            <a:r>
              <a:rPr lang="en-US" dirty="0">
                <a:latin typeface="Arial"/>
                <a:ea typeface="Arial"/>
              </a:rPr>
              <a:t> </a:t>
            </a:r>
            <a:r>
              <a:rPr lang="en-US" dirty="0" err="1">
                <a:latin typeface="Arial"/>
                <a:ea typeface="Arial"/>
              </a:rPr>
              <a:t>Bước</a:t>
            </a:r>
            <a:r>
              <a:rPr lang="en-US" dirty="0">
                <a:latin typeface="Arial"/>
                <a:ea typeface="Arial"/>
              </a:rPr>
              <a:t> 3: </a:t>
            </a:r>
            <a:r>
              <a:rPr lang="en-US" dirty="0" err="1">
                <a:latin typeface="Arial"/>
                <a:ea typeface="Arial"/>
              </a:rPr>
              <a:t>Tính</a:t>
            </a:r>
            <a:r>
              <a:rPr lang="en-US" dirty="0">
                <a:latin typeface="Arial"/>
                <a:ea typeface="Arial"/>
              </a:rPr>
              <a:t> TF-IDF </a:t>
            </a:r>
            <a:r>
              <a:rPr lang="en-US" dirty="0" err="1">
                <a:latin typeface="Arial"/>
                <a:ea typeface="Arial"/>
              </a:rPr>
              <a:t>cho</a:t>
            </a:r>
            <a:r>
              <a:rPr lang="en-US" dirty="0">
                <a:latin typeface="Arial"/>
                <a:ea typeface="Arial"/>
              </a:rPr>
              <a:t> </a:t>
            </a:r>
            <a:r>
              <a:rPr lang="en-US" dirty="0" err="1">
                <a:latin typeface="Arial"/>
                <a:ea typeface="Arial"/>
              </a:rPr>
              <a:t>từng</a:t>
            </a:r>
            <a:r>
              <a:rPr lang="en-US" dirty="0">
                <a:latin typeface="Arial"/>
                <a:ea typeface="Arial"/>
              </a:rPr>
              <a:t> feature</a:t>
            </a:r>
          </a:p>
          <a:p>
            <a:pPr>
              <a:defRPr sz="1550">
                <a:solidFill>
                  <a:srgbClr val="0F172A"/>
                </a:solidFill>
                <a:latin typeface="Arial"/>
                <a:ea typeface="Arial"/>
              </a:defRPr>
            </a:pPr>
            <a:endParaRPr lang="en-US" dirty="0">
              <a:latin typeface="Arial"/>
              <a:ea typeface="Arial"/>
            </a:endParaRPr>
          </a:p>
          <a:p>
            <a:pPr>
              <a:defRPr sz="1550">
                <a:solidFill>
                  <a:srgbClr val="0F172A"/>
                </a:solidFill>
                <a:latin typeface="Arial"/>
                <a:ea typeface="Arial"/>
              </a:defRPr>
            </a:pPr>
            <a:endParaRPr lang="en-US" dirty="0">
              <a:latin typeface="Arial"/>
              <a:ea typeface="Arial"/>
            </a:endParaRPr>
          </a:p>
        </p:txBody>
      </p:sp>
      <p:pic>
        <p:nvPicPr>
          <p:cNvPr id="8" name="Picture 7">
            <a:extLst>
              <a:ext uri="{FF2B5EF4-FFF2-40B4-BE49-F238E27FC236}">
                <a16:creationId xmlns:a16="http://schemas.microsoft.com/office/drawing/2014/main" id="{50DF576F-9607-2724-35EE-C1D682CCC13D}"/>
              </a:ext>
            </a:extLst>
          </p:cNvPr>
          <p:cNvPicPr>
            <a:picLocks noChangeAspect="1"/>
          </p:cNvPicPr>
          <p:nvPr/>
        </p:nvPicPr>
        <p:blipFill>
          <a:blip r:embed="rId2"/>
          <a:stretch>
            <a:fillRect/>
          </a:stretch>
        </p:blipFill>
        <p:spPr>
          <a:xfrm>
            <a:off x="4356100" y="3628103"/>
            <a:ext cx="3336347" cy="2589817"/>
          </a:xfrm>
          <a:prstGeom prst="rect">
            <a:avLst/>
          </a:prstGeom>
        </p:spPr>
      </p:pic>
    </p:spTree>
    <p:extLst>
      <p:ext uri="{BB962C8B-B14F-4D97-AF65-F5344CB8AC3E}">
        <p14:creationId xmlns:p14="http://schemas.microsoft.com/office/powerpoint/2010/main" val="2383931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sz="2800" b="1" dirty="0">
                <a:solidFill>
                  <a:srgbClr val="142A41"/>
                </a:solidFill>
                <a:latin typeface="Arial"/>
              </a:rPr>
              <a:t>Models and Baseline</a:t>
            </a: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8/15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TextBox 5"/>
          <p:cNvSpPr txBox="1"/>
          <p:nvPr/>
        </p:nvSpPr>
        <p:spPr>
          <a:xfrm>
            <a:off x="777240" y="1143000"/>
            <a:ext cx="10698480" cy="5074920"/>
          </a:xfrm>
          <a:prstGeom prst="rect">
            <a:avLst/>
          </a:prstGeom>
          <a:noFill/>
        </p:spPr>
        <p:txBody>
          <a:bodyPr wrap="square">
            <a:normAutofit/>
          </a:bodyPr>
          <a:lstStyle/>
          <a:p>
            <a:pPr>
              <a:defRPr sz="1550">
                <a:solidFill>
                  <a:srgbClr val="0F172A"/>
                </a:solidFill>
                <a:latin typeface="Arial"/>
                <a:ea typeface="Arial"/>
              </a:defRPr>
            </a:pPr>
            <a:r>
              <a:rPr lang="vi-VN" dirty="0">
                <a:latin typeface="Arial"/>
                <a:ea typeface="Arial"/>
              </a:rPr>
              <a:t>TF-IDF</a:t>
            </a:r>
          </a:p>
          <a:p>
            <a:pPr>
              <a:defRPr sz="1550">
                <a:solidFill>
                  <a:srgbClr val="0F172A"/>
                </a:solidFill>
                <a:latin typeface="Arial"/>
                <a:ea typeface="Arial"/>
              </a:defRPr>
            </a:pPr>
            <a:r>
              <a:rPr lang="en-US" dirty="0">
                <a:latin typeface="Arial"/>
                <a:ea typeface="Arial"/>
              </a:rPr>
              <a:t>	</a:t>
            </a:r>
            <a:r>
              <a:rPr lang="en-US" dirty="0" err="1">
                <a:latin typeface="Arial"/>
                <a:ea typeface="Arial"/>
              </a:rPr>
              <a:t>Bước</a:t>
            </a:r>
            <a:r>
              <a:rPr lang="en-US" dirty="0">
                <a:latin typeface="Arial"/>
                <a:ea typeface="Arial"/>
              </a:rPr>
              <a:t> 4: </a:t>
            </a:r>
            <a:r>
              <a:rPr lang="en-US" dirty="0" err="1">
                <a:latin typeface="Arial"/>
                <a:ea typeface="Arial"/>
              </a:rPr>
              <a:t>Chuyển</a:t>
            </a:r>
            <a:r>
              <a:rPr lang="en-US" dirty="0">
                <a:latin typeface="Arial"/>
                <a:ea typeface="Arial"/>
              </a:rPr>
              <a:t> review </a:t>
            </a:r>
            <a:r>
              <a:rPr lang="en-US" dirty="0" err="1">
                <a:latin typeface="Arial"/>
                <a:ea typeface="Arial"/>
              </a:rPr>
              <a:t>thành</a:t>
            </a:r>
            <a:r>
              <a:rPr lang="en-US" dirty="0">
                <a:latin typeface="Arial"/>
                <a:ea typeface="Arial"/>
              </a:rPr>
              <a:t> </a:t>
            </a:r>
            <a:r>
              <a:rPr lang="en-US" dirty="0" err="1">
                <a:latin typeface="Arial"/>
                <a:ea typeface="Arial"/>
              </a:rPr>
              <a:t>dạng</a:t>
            </a:r>
            <a:r>
              <a:rPr lang="en-US" dirty="0">
                <a:latin typeface="Arial"/>
                <a:ea typeface="Arial"/>
              </a:rPr>
              <a:t> vector n </a:t>
            </a:r>
            <a:r>
              <a:rPr lang="en-US" dirty="0" err="1">
                <a:latin typeface="Arial"/>
                <a:ea typeface="Arial"/>
              </a:rPr>
              <a:t>chiều</a:t>
            </a:r>
            <a:r>
              <a:rPr lang="en-US" dirty="0">
                <a:latin typeface="Arial"/>
                <a:ea typeface="Arial"/>
              </a:rPr>
              <a:t> </a:t>
            </a:r>
            <a:r>
              <a:rPr lang="pt-BR" dirty="0">
                <a:latin typeface="Arial"/>
                <a:ea typeface="Arial"/>
              </a:rPr>
              <a:t>x = [x_1, x_2, ..., x_n]</a:t>
            </a:r>
            <a:r>
              <a:rPr lang="en-US" dirty="0">
                <a:latin typeface="Arial"/>
                <a:ea typeface="Arial"/>
              </a:rPr>
              <a:t> </a:t>
            </a:r>
            <a:r>
              <a:rPr lang="en-US" dirty="0" err="1">
                <a:latin typeface="Arial"/>
                <a:ea typeface="Arial"/>
              </a:rPr>
              <a:t>với</a:t>
            </a:r>
            <a:r>
              <a:rPr lang="en-US" dirty="0">
                <a:latin typeface="Arial"/>
                <a:ea typeface="Arial"/>
              </a:rPr>
              <a:t>: </a:t>
            </a:r>
          </a:p>
          <a:p>
            <a:pPr>
              <a:defRPr sz="1550">
                <a:solidFill>
                  <a:srgbClr val="0F172A"/>
                </a:solidFill>
                <a:latin typeface="Arial"/>
                <a:ea typeface="Arial"/>
              </a:defRPr>
            </a:pPr>
            <a:r>
              <a:rPr lang="en-US" dirty="0">
                <a:latin typeface="Arial"/>
                <a:ea typeface="Arial"/>
              </a:rPr>
              <a:t>	</a:t>
            </a:r>
          </a:p>
          <a:p>
            <a:pPr>
              <a:defRPr sz="1550">
                <a:solidFill>
                  <a:srgbClr val="0F172A"/>
                </a:solidFill>
                <a:latin typeface="Arial"/>
                <a:ea typeface="Arial"/>
              </a:defRPr>
            </a:pPr>
            <a:endParaRPr lang="en-US" dirty="0">
              <a:latin typeface="Arial"/>
              <a:ea typeface="Arial"/>
            </a:endParaRPr>
          </a:p>
          <a:p>
            <a:pPr>
              <a:defRPr sz="1550">
                <a:solidFill>
                  <a:srgbClr val="0F172A"/>
                </a:solidFill>
                <a:latin typeface="Arial"/>
                <a:ea typeface="Arial"/>
              </a:defRPr>
            </a:pPr>
            <a:r>
              <a:rPr lang="en-US" dirty="0">
                <a:latin typeface="Arial"/>
                <a:ea typeface="Arial"/>
              </a:rPr>
              <a:t>	n </a:t>
            </a:r>
            <a:r>
              <a:rPr lang="en-US" dirty="0" err="1">
                <a:latin typeface="Arial"/>
                <a:ea typeface="Arial"/>
              </a:rPr>
              <a:t>là</a:t>
            </a:r>
            <a:r>
              <a:rPr lang="en-US" dirty="0">
                <a:latin typeface="Arial"/>
                <a:ea typeface="Arial"/>
              </a:rPr>
              <a:t> </a:t>
            </a:r>
            <a:r>
              <a:rPr lang="en-US" dirty="0" err="1">
                <a:latin typeface="Arial"/>
                <a:ea typeface="Arial"/>
              </a:rPr>
              <a:t>số</a:t>
            </a:r>
            <a:r>
              <a:rPr lang="en-US" dirty="0">
                <a:latin typeface="Arial"/>
                <a:ea typeface="Arial"/>
              </a:rPr>
              <a:t> feature.</a:t>
            </a:r>
          </a:p>
        </p:txBody>
      </p:sp>
      <p:pic>
        <p:nvPicPr>
          <p:cNvPr id="7" name="Picture 6">
            <a:extLst>
              <a:ext uri="{FF2B5EF4-FFF2-40B4-BE49-F238E27FC236}">
                <a16:creationId xmlns:a16="http://schemas.microsoft.com/office/drawing/2014/main" id="{FF3378A0-8BA6-0567-193B-7F810A7643B2}"/>
              </a:ext>
            </a:extLst>
          </p:cNvPr>
          <p:cNvPicPr>
            <a:picLocks noChangeAspect="1"/>
          </p:cNvPicPr>
          <p:nvPr/>
        </p:nvPicPr>
        <p:blipFill>
          <a:blip r:embed="rId2"/>
          <a:stretch>
            <a:fillRect/>
          </a:stretch>
        </p:blipFill>
        <p:spPr>
          <a:xfrm>
            <a:off x="1267251" y="1858864"/>
            <a:ext cx="2695951" cy="247685"/>
          </a:xfrm>
          <a:prstGeom prst="rect">
            <a:avLst/>
          </a:prstGeom>
        </p:spPr>
      </p:pic>
    </p:spTree>
    <p:extLst>
      <p:ext uri="{BB962C8B-B14F-4D97-AF65-F5344CB8AC3E}">
        <p14:creationId xmlns:p14="http://schemas.microsoft.com/office/powerpoint/2010/main" val="4262217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sz="2800" b="1" dirty="0">
                <a:solidFill>
                  <a:srgbClr val="142A41"/>
                </a:solidFill>
                <a:latin typeface="Arial"/>
              </a:rPr>
              <a:t>Models and Baseline</a:t>
            </a: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8/15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TextBox 5"/>
          <p:cNvSpPr txBox="1"/>
          <p:nvPr/>
        </p:nvSpPr>
        <p:spPr>
          <a:xfrm>
            <a:off x="777240" y="1143000"/>
            <a:ext cx="10698480" cy="5074920"/>
          </a:xfrm>
          <a:prstGeom prst="rect">
            <a:avLst/>
          </a:prstGeom>
          <a:noFill/>
        </p:spPr>
        <p:txBody>
          <a:bodyPr wrap="square">
            <a:normAutofit/>
          </a:bodyPr>
          <a:lstStyle/>
          <a:p>
            <a:pPr>
              <a:defRPr sz="1550">
                <a:solidFill>
                  <a:srgbClr val="0F172A"/>
                </a:solidFill>
                <a:latin typeface="Arial"/>
                <a:ea typeface="Arial"/>
              </a:defRPr>
            </a:pPr>
            <a:r>
              <a:rPr lang="vi-VN" dirty="0">
                <a:latin typeface="Arial"/>
                <a:ea typeface="Arial"/>
              </a:rPr>
              <a:t>Linear SVM</a:t>
            </a:r>
          </a:p>
          <a:p>
            <a:pPr>
              <a:defRPr sz="1550">
                <a:solidFill>
                  <a:srgbClr val="0F172A"/>
                </a:solidFill>
                <a:latin typeface="Arial"/>
                <a:ea typeface="Arial"/>
              </a:defRPr>
            </a:pPr>
            <a:endParaRPr lang="vi-VN" dirty="0">
              <a:latin typeface="Arial"/>
              <a:ea typeface="Arial"/>
            </a:endParaRPr>
          </a:p>
          <a:p>
            <a:pPr>
              <a:defRPr sz="1550">
                <a:solidFill>
                  <a:srgbClr val="0F172A"/>
                </a:solidFill>
                <a:latin typeface="Arial"/>
                <a:ea typeface="Arial"/>
              </a:defRPr>
            </a:pPr>
            <a:r>
              <a:rPr lang="vi-VN" dirty="0">
                <a:latin typeface="Arial"/>
                <a:ea typeface="Arial"/>
              </a:rPr>
              <a:t>• Ý tưởng:</a:t>
            </a:r>
          </a:p>
          <a:p>
            <a:pPr>
              <a:defRPr sz="1550">
                <a:solidFill>
                  <a:srgbClr val="0F172A"/>
                </a:solidFill>
                <a:latin typeface="Arial"/>
                <a:ea typeface="Arial"/>
              </a:defRPr>
            </a:pPr>
            <a:r>
              <a:rPr lang="vi-VN" dirty="0">
                <a:latin typeface="Arial"/>
                <a:ea typeface="Arial"/>
              </a:rPr>
              <a:t>  • Mỗi review sau TF-IDF là một vector.</a:t>
            </a:r>
          </a:p>
          <a:p>
            <a:pPr>
              <a:defRPr sz="1550">
                <a:solidFill>
                  <a:srgbClr val="0F172A"/>
                </a:solidFill>
                <a:latin typeface="Arial"/>
                <a:ea typeface="Arial"/>
              </a:defRPr>
            </a:pPr>
            <a:r>
              <a:rPr lang="vi-VN" dirty="0">
                <a:latin typeface="Arial"/>
                <a:ea typeface="Arial"/>
              </a:rPr>
              <a:t>  • SVM học siêu phẳng để tách các lớp.</a:t>
            </a:r>
          </a:p>
          <a:p>
            <a:pPr>
              <a:defRPr sz="1550">
                <a:solidFill>
                  <a:srgbClr val="0F172A"/>
                </a:solidFill>
                <a:latin typeface="Arial"/>
                <a:ea typeface="Arial"/>
              </a:defRPr>
            </a:pPr>
            <a:r>
              <a:rPr lang="vi-VN" dirty="0">
                <a:latin typeface="Arial"/>
                <a:ea typeface="Arial"/>
              </a:rPr>
              <a:t>  • Ưu tiên khoảng cách phân tách lớn nhất giữa các lớp</a:t>
            </a:r>
            <a:r>
              <a:rPr lang="en-US" dirty="0">
                <a:latin typeface="Arial"/>
                <a:ea typeface="Arial"/>
              </a:rPr>
              <a:t> “issue” </a:t>
            </a:r>
            <a:r>
              <a:rPr lang="en-US" dirty="0" err="1">
                <a:latin typeface="Arial"/>
                <a:ea typeface="Arial"/>
              </a:rPr>
              <a:t>và</a:t>
            </a:r>
            <a:r>
              <a:rPr lang="en-US" dirty="0">
                <a:latin typeface="Arial"/>
                <a:ea typeface="Arial"/>
              </a:rPr>
              <a:t> “non-issue”</a:t>
            </a:r>
            <a:r>
              <a:rPr lang="vi-VN" dirty="0">
                <a:latin typeface="Arial"/>
                <a:ea typeface="Arial"/>
              </a:rPr>
              <a:t>.</a:t>
            </a:r>
          </a:p>
          <a:p>
            <a:pPr>
              <a:defRPr sz="1550">
                <a:solidFill>
                  <a:srgbClr val="0F172A"/>
                </a:solidFill>
                <a:latin typeface="Arial"/>
                <a:ea typeface="Arial"/>
              </a:defRPr>
            </a:pPr>
            <a:endParaRPr lang="vi-VN" dirty="0">
              <a:latin typeface="Arial"/>
              <a:ea typeface="Arial"/>
            </a:endParaRPr>
          </a:p>
          <a:p>
            <a:pPr>
              <a:defRPr sz="1550">
                <a:solidFill>
                  <a:srgbClr val="0F172A"/>
                </a:solidFill>
                <a:latin typeface="Arial"/>
                <a:ea typeface="Arial"/>
              </a:defRPr>
            </a:pPr>
            <a:r>
              <a:rPr lang="vi-VN" dirty="0">
                <a:latin typeface="Arial"/>
                <a:ea typeface="Arial"/>
              </a:rPr>
              <a:t>• Hàm điểm:</a:t>
            </a:r>
          </a:p>
          <a:p>
            <a:pPr>
              <a:defRPr sz="1550">
                <a:solidFill>
                  <a:srgbClr val="0F172A"/>
                </a:solidFill>
                <a:latin typeface="Arial"/>
                <a:ea typeface="Arial"/>
              </a:defRPr>
            </a:pPr>
            <a:endParaRPr lang="vi-VN" dirty="0">
              <a:latin typeface="Arial"/>
              <a:ea typeface="Arial"/>
            </a:endParaRPr>
          </a:p>
          <a:p>
            <a:pPr>
              <a:defRPr sz="1550">
                <a:solidFill>
                  <a:srgbClr val="0F172A"/>
                </a:solidFill>
                <a:latin typeface="Arial"/>
                <a:ea typeface="Arial"/>
              </a:defRPr>
            </a:pPr>
            <a:r>
              <a:rPr lang="en-US" dirty="0" err="1">
                <a:latin typeface="Arial"/>
                <a:ea typeface="Arial"/>
              </a:rPr>
              <a:t>Với</a:t>
            </a:r>
            <a:endParaRPr lang="en-US" dirty="0">
              <a:latin typeface="Arial"/>
              <a:ea typeface="Arial"/>
            </a:endParaRPr>
          </a:p>
          <a:p>
            <a:pPr>
              <a:defRPr sz="1550">
                <a:solidFill>
                  <a:srgbClr val="0F172A"/>
                </a:solidFill>
                <a:latin typeface="Arial"/>
                <a:ea typeface="Arial"/>
              </a:defRPr>
            </a:pPr>
            <a:endParaRPr lang="vi-VN" dirty="0">
              <a:latin typeface="Arial"/>
              <a:ea typeface="Arial"/>
            </a:endParaRPr>
          </a:p>
          <a:p>
            <a:pPr>
              <a:defRPr sz="1550">
                <a:solidFill>
                  <a:srgbClr val="0F172A"/>
                </a:solidFill>
                <a:latin typeface="Arial"/>
                <a:ea typeface="Arial"/>
              </a:defRPr>
            </a:pPr>
            <a:r>
              <a:rPr lang="vi-VN" dirty="0">
                <a:latin typeface="Arial"/>
                <a:ea typeface="Arial"/>
              </a:rPr>
              <a:t>   SVM tìm w_c và b_c bằng cách tối ưu:</a:t>
            </a:r>
            <a:r>
              <a:rPr lang="en-US" dirty="0">
                <a:latin typeface="Arial"/>
                <a:ea typeface="Arial"/>
              </a:rPr>
              <a:t>  </a:t>
            </a:r>
          </a:p>
          <a:p>
            <a:pPr>
              <a:defRPr sz="1550">
                <a:solidFill>
                  <a:srgbClr val="0F172A"/>
                </a:solidFill>
                <a:latin typeface="Arial"/>
                <a:ea typeface="Arial"/>
              </a:defRPr>
            </a:pPr>
            <a:r>
              <a:rPr lang="en-US" dirty="0">
                <a:latin typeface="Arial"/>
                <a:ea typeface="Arial"/>
              </a:rPr>
              <a:t>   </a:t>
            </a:r>
            <a:r>
              <a:rPr lang="en-US" dirty="0" err="1">
                <a:latin typeface="Arial"/>
                <a:ea typeface="Arial"/>
              </a:rPr>
              <a:t>Với</a:t>
            </a:r>
            <a:r>
              <a:rPr lang="en-US" dirty="0">
                <a:latin typeface="Arial"/>
                <a:ea typeface="Arial"/>
              </a:rPr>
              <a:t> </a:t>
            </a:r>
            <a:r>
              <a:rPr lang="en-US" dirty="0" err="1">
                <a:latin typeface="Arial"/>
                <a:ea typeface="Arial"/>
              </a:rPr>
              <a:t>ràng</a:t>
            </a:r>
            <a:r>
              <a:rPr lang="en-US" dirty="0">
                <a:latin typeface="Arial"/>
                <a:ea typeface="Arial"/>
              </a:rPr>
              <a:t> </a:t>
            </a:r>
            <a:r>
              <a:rPr lang="en-US" dirty="0" err="1">
                <a:latin typeface="Arial"/>
                <a:ea typeface="Arial"/>
              </a:rPr>
              <a:t>buộc</a:t>
            </a:r>
            <a:r>
              <a:rPr lang="en-US" dirty="0">
                <a:latin typeface="Arial"/>
                <a:ea typeface="Arial"/>
              </a:rPr>
              <a:t>: </a:t>
            </a:r>
          </a:p>
          <a:p>
            <a:pPr>
              <a:defRPr sz="1550">
                <a:solidFill>
                  <a:srgbClr val="0F172A"/>
                </a:solidFill>
                <a:latin typeface="Arial"/>
                <a:ea typeface="Arial"/>
              </a:defRPr>
            </a:pPr>
            <a:endParaRPr lang="en-US" dirty="0">
              <a:latin typeface="Arial"/>
              <a:ea typeface="Arial"/>
            </a:endParaRPr>
          </a:p>
          <a:p>
            <a:pPr>
              <a:defRPr sz="1550">
                <a:solidFill>
                  <a:srgbClr val="0F172A"/>
                </a:solidFill>
                <a:latin typeface="Arial"/>
                <a:ea typeface="Arial"/>
              </a:defRPr>
            </a:pPr>
            <a:r>
              <a:rPr lang="en-US" dirty="0">
                <a:latin typeface="Arial"/>
                <a:ea typeface="Arial"/>
              </a:rPr>
              <a:t> </a:t>
            </a:r>
          </a:p>
          <a:p>
            <a:pPr>
              <a:defRPr sz="1550">
                <a:solidFill>
                  <a:srgbClr val="0F172A"/>
                </a:solidFill>
                <a:latin typeface="Arial"/>
                <a:ea typeface="Arial"/>
              </a:defRPr>
            </a:pPr>
            <a:r>
              <a:rPr lang="en-US" dirty="0" err="1">
                <a:latin typeface="Arial"/>
                <a:ea typeface="Arial"/>
              </a:rPr>
              <a:t>Dự</a:t>
            </a:r>
            <a:r>
              <a:rPr lang="en-US" dirty="0">
                <a:latin typeface="Arial"/>
                <a:ea typeface="Arial"/>
              </a:rPr>
              <a:t> </a:t>
            </a:r>
            <a:r>
              <a:rPr lang="en-US" dirty="0" err="1">
                <a:latin typeface="Arial"/>
                <a:ea typeface="Arial"/>
              </a:rPr>
              <a:t>đoán</a:t>
            </a:r>
            <a:r>
              <a:rPr lang="en-US" dirty="0">
                <a:latin typeface="Arial"/>
                <a:ea typeface="Arial"/>
              </a:rPr>
              <a:t>: </a:t>
            </a:r>
          </a:p>
          <a:p>
            <a:pPr>
              <a:defRPr sz="1550">
                <a:solidFill>
                  <a:srgbClr val="0F172A"/>
                </a:solidFill>
                <a:latin typeface="Arial"/>
                <a:ea typeface="Arial"/>
              </a:defRPr>
            </a:pPr>
            <a:endParaRPr lang="en-US" dirty="0">
              <a:latin typeface="Arial"/>
              <a:ea typeface="Arial"/>
            </a:endParaRPr>
          </a:p>
          <a:p>
            <a:pPr>
              <a:defRPr sz="1550">
                <a:solidFill>
                  <a:srgbClr val="0F172A"/>
                </a:solidFill>
                <a:latin typeface="Arial"/>
                <a:ea typeface="Arial"/>
              </a:defRPr>
            </a:pPr>
            <a:r>
              <a:rPr lang="vi-VN" dirty="0">
                <a:latin typeface="Arial"/>
                <a:ea typeface="Arial"/>
              </a:rPr>
              <a:t>  </a:t>
            </a:r>
          </a:p>
        </p:txBody>
      </p:sp>
      <p:pic>
        <p:nvPicPr>
          <p:cNvPr id="16" name="Picture 15">
            <a:extLst>
              <a:ext uri="{FF2B5EF4-FFF2-40B4-BE49-F238E27FC236}">
                <a16:creationId xmlns:a16="http://schemas.microsoft.com/office/drawing/2014/main" id="{78C14A94-6F59-4D41-37B1-3AC8D2CF900B}"/>
              </a:ext>
            </a:extLst>
          </p:cNvPr>
          <p:cNvPicPr>
            <a:picLocks noChangeAspect="1"/>
          </p:cNvPicPr>
          <p:nvPr/>
        </p:nvPicPr>
        <p:blipFill>
          <a:blip r:embed="rId2"/>
          <a:stretch>
            <a:fillRect/>
          </a:stretch>
        </p:blipFill>
        <p:spPr>
          <a:xfrm>
            <a:off x="2016709" y="2694565"/>
            <a:ext cx="1905266" cy="590632"/>
          </a:xfrm>
          <a:prstGeom prst="rect">
            <a:avLst/>
          </a:prstGeom>
        </p:spPr>
      </p:pic>
      <p:pic>
        <p:nvPicPr>
          <p:cNvPr id="18" name="Picture 17">
            <a:extLst>
              <a:ext uri="{FF2B5EF4-FFF2-40B4-BE49-F238E27FC236}">
                <a16:creationId xmlns:a16="http://schemas.microsoft.com/office/drawing/2014/main" id="{DFB5A620-8B2D-51CE-9DFE-772C3FA5B6F8}"/>
              </a:ext>
            </a:extLst>
          </p:cNvPr>
          <p:cNvPicPr>
            <a:picLocks noChangeAspect="1"/>
          </p:cNvPicPr>
          <p:nvPr/>
        </p:nvPicPr>
        <p:blipFill>
          <a:blip r:embed="rId3"/>
          <a:stretch>
            <a:fillRect/>
          </a:stretch>
        </p:blipFill>
        <p:spPr>
          <a:xfrm>
            <a:off x="1508760" y="3325597"/>
            <a:ext cx="2695951" cy="247685"/>
          </a:xfrm>
          <a:prstGeom prst="rect">
            <a:avLst/>
          </a:prstGeom>
        </p:spPr>
      </p:pic>
      <p:pic>
        <p:nvPicPr>
          <p:cNvPr id="19" name="Picture 18">
            <a:extLst>
              <a:ext uri="{FF2B5EF4-FFF2-40B4-BE49-F238E27FC236}">
                <a16:creationId xmlns:a16="http://schemas.microsoft.com/office/drawing/2014/main" id="{0DFED1FB-547F-3215-EACC-24A274A404F4}"/>
              </a:ext>
            </a:extLst>
          </p:cNvPr>
          <p:cNvPicPr>
            <a:picLocks noChangeAspect="1"/>
          </p:cNvPicPr>
          <p:nvPr/>
        </p:nvPicPr>
        <p:blipFill>
          <a:blip r:embed="rId4"/>
          <a:stretch>
            <a:fillRect/>
          </a:stretch>
        </p:blipFill>
        <p:spPr>
          <a:xfrm>
            <a:off x="4458780" y="3680460"/>
            <a:ext cx="2133898" cy="590632"/>
          </a:xfrm>
          <a:prstGeom prst="rect">
            <a:avLst/>
          </a:prstGeom>
        </p:spPr>
      </p:pic>
      <p:pic>
        <p:nvPicPr>
          <p:cNvPr id="21" name="Picture 20">
            <a:extLst>
              <a:ext uri="{FF2B5EF4-FFF2-40B4-BE49-F238E27FC236}">
                <a16:creationId xmlns:a16="http://schemas.microsoft.com/office/drawing/2014/main" id="{E6B13598-5EDC-DBB1-4433-4D9A7C803121}"/>
              </a:ext>
            </a:extLst>
          </p:cNvPr>
          <p:cNvPicPr>
            <a:picLocks noChangeAspect="1"/>
          </p:cNvPicPr>
          <p:nvPr/>
        </p:nvPicPr>
        <p:blipFill>
          <a:blip r:embed="rId5"/>
          <a:stretch>
            <a:fillRect/>
          </a:stretch>
        </p:blipFill>
        <p:spPr>
          <a:xfrm>
            <a:off x="1788241" y="4737976"/>
            <a:ext cx="1376252" cy="344063"/>
          </a:xfrm>
          <a:prstGeom prst="rect">
            <a:avLst/>
          </a:prstGeom>
        </p:spPr>
      </p:pic>
      <p:pic>
        <p:nvPicPr>
          <p:cNvPr id="8" name="Picture 7">
            <a:extLst>
              <a:ext uri="{FF2B5EF4-FFF2-40B4-BE49-F238E27FC236}">
                <a16:creationId xmlns:a16="http://schemas.microsoft.com/office/drawing/2014/main" id="{18782067-9A94-BDAF-3068-775108B35483}"/>
              </a:ext>
            </a:extLst>
          </p:cNvPr>
          <p:cNvPicPr>
            <a:picLocks noChangeAspect="1"/>
          </p:cNvPicPr>
          <p:nvPr/>
        </p:nvPicPr>
        <p:blipFill>
          <a:blip r:embed="rId6"/>
          <a:stretch>
            <a:fillRect/>
          </a:stretch>
        </p:blipFill>
        <p:spPr>
          <a:xfrm>
            <a:off x="2337619" y="4039767"/>
            <a:ext cx="2495898" cy="676369"/>
          </a:xfrm>
          <a:prstGeom prst="rect">
            <a:avLst/>
          </a:prstGeom>
        </p:spPr>
      </p:pic>
    </p:spTree>
    <p:extLst>
      <p:ext uri="{BB962C8B-B14F-4D97-AF65-F5344CB8AC3E}">
        <p14:creationId xmlns:p14="http://schemas.microsoft.com/office/powerpoint/2010/main" val="4284177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sz="2800" b="1" dirty="0">
                <a:solidFill>
                  <a:srgbClr val="142A41"/>
                </a:solidFill>
                <a:latin typeface="Arial"/>
              </a:rPr>
              <a:t>Experiments</a:t>
            </a: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9/15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TextBox 5"/>
          <p:cNvSpPr txBox="1"/>
          <p:nvPr/>
        </p:nvSpPr>
        <p:spPr>
          <a:xfrm>
            <a:off x="685800" y="1143000"/>
            <a:ext cx="4297680" cy="4480560"/>
          </a:xfrm>
          <a:prstGeom prst="rect">
            <a:avLst/>
          </a:prstGeom>
          <a:noFill/>
        </p:spPr>
        <p:txBody>
          <a:bodyPr wrap="square">
            <a:normAutofit/>
          </a:bodyPr>
          <a:lstStyle/>
          <a:p>
            <a:pPr>
              <a:defRPr sz="1700">
                <a:solidFill>
                  <a:srgbClr val="0F172A"/>
                </a:solidFill>
                <a:latin typeface="Arial"/>
              </a:defRPr>
            </a:pPr>
            <a:r>
              <a:rPr dirty="0">
                <a:latin typeface="Arial"/>
              </a:rPr>
              <a:t>• Train/test split: 80/20, stratified by label.</a:t>
            </a:r>
          </a:p>
          <a:p>
            <a:pPr>
              <a:defRPr sz="1700">
                <a:solidFill>
                  <a:srgbClr val="0F172A"/>
                </a:solidFill>
                <a:latin typeface="Arial"/>
              </a:defRPr>
            </a:pPr>
            <a:r>
              <a:rPr lang="en-US" dirty="0">
                <a:latin typeface="Arial"/>
              </a:rPr>
              <a:t>• Stratified split </a:t>
            </a:r>
            <a:r>
              <a:rPr lang="en-US" dirty="0" err="1">
                <a:latin typeface="Arial"/>
              </a:rPr>
              <a:t>theo</a:t>
            </a:r>
            <a:r>
              <a:rPr lang="en-US" dirty="0">
                <a:latin typeface="Arial"/>
              </a:rPr>
              <a:t> label.</a:t>
            </a:r>
          </a:p>
          <a:p>
            <a:pPr>
              <a:defRPr sz="1700">
                <a:solidFill>
                  <a:srgbClr val="0F172A"/>
                </a:solidFill>
                <a:latin typeface="Arial"/>
              </a:defRPr>
            </a:pPr>
            <a:r>
              <a:rPr lang="en-US" dirty="0">
                <a:latin typeface="Arial"/>
              </a:rPr>
              <a:t>  • </a:t>
            </a:r>
            <a:r>
              <a:rPr lang="en-US" dirty="0" err="1">
                <a:latin typeface="Arial"/>
              </a:rPr>
              <a:t>Giữ</a:t>
            </a:r>
            <a:r>
              <a:rPr lang="en-US" dirty="0">
                <a:latin typeface="Arial"/>
              </a:rPr>
              <a:t> </a:t>
            </a:r>
            <a:r>
              <a:rPr lang="en-US" dirty="0" err="1">
                <a:latin typeface="Arial"/>
              </a:rPr>
              <a:t>tỉ</a:t>
            </a:r>
            <a:r>
              <a:rPr lang="en-US" dirty="0">
                <a:latin typeface="Arial"/>
              </a:rPr>
              <a:t> </a:t>
            </a:r>
            <a:r>
              <a:rPr lang="en-US" dirty="0" err="1">
                <a:latin typeface="Arial"/>
              </a:rPr>
              <a:t>lệ</a:t>
            </a:r>
            <a:r>
              <a:rPr lang="en-US" dirty="0">
                <a:latin typeface="Arial"/>
              </a:rPr>
              <a:t> </a:t>
            </a:r>
            <a:r>
              <a:rPr lang="en-US" dirty="0" err="1">
                <a:latin typeface="Arial"/>
              </a:rPr>
              <a:t>các</a:t>
            </a:r>
            <a:r>
              <a:rPr lang="en-US" dirty="0">
                <a:latin typeface="Arial"/>
              </a:rPr>
              <a:t> </a:t>
            </a:r>
            <a:r>
              <a:rPr lang="en-US" dirty="0" err="1">
                <a:latin typeface="Arial"/>
              </a:rPr>
              <a:t>lớp</a:t>
            </a:r>
            <a:r>
              <a:rPr lang="en-US" dirty="0">
                <a:latin typeface="Arial"/>
              </a:rPr>
              <a:t> </a:t>
            </a:r>
            <a:r>
              <a:rPr lang="en-US" dirty="0" err="1">
                <a:latin typeface="Arial"/>
              </a:rPr>
              <a:t>trong</a:t>
            </a:r>
            <a:r>
              <a:rPr lang="en-US" dirty="0">
                <a:latin typeface="Arial"/>
              </a:rPr>
              <a:t> train/test </a:t>
            </a:r>
            <a:r>
              <a:rPr lang="en-US" dirty="0" err="1">
                <a:latin typeface="Arial"/>
              </a:rPr>
              <a:t>gần</a:t>
            </a:r>
            <a:r>
              <a:rPr lang="en-US" dirty="0">
                <a:latin typeface="Arial"/>
              </a:rPr>
              <a:t> </a:t>
            </a:r>
            <a:r>
              <a:rPr lang="en-US" dirty="0" err="1">
                <a:latin typeface="Arial"/>
              </a:rPr>
              <a:t>giống</a:t>
            </a:r>
            <a:r>
              <a:rPr lang="en-US" dirty="0">
                <a:latin typeface="Arial"/>
              </a:rPr>
              <a:t> </a:t>
            </a:r>
            <a:r>
              <a:rPr lang="en-US" dirty="0" err="1">
                <a:latin typeface="Arial"/>
              </a:rPr>
              <a:t>dữ</a:t>
            </a:r>
            <a:r>
              <a:rPr lang="en-US" dirty="0">
                <a:latin typeface="Arial"/>
              </a:rPr>
              <a:t> </a:t>
            </a:r>
            <a:r>
              <a:rPr lang="en-US" dirty="0" err="1">
                <a:latin typeface="Arial"/>
              </a:rPr>
              <a:t>liệu</a:t>
            </a:r>
            <a:r>
              <a:rPr lang="en-US" dirty="0">
                <a:latin typeface="Arial"/>
              </a:rPr>
              <a:t> </a:t>
            </a:r>
            <a:r>
              <a:rPr lang="en-US" dirty="0" err="1">
                <a:latin typeface="Arial"/>
              </a:rPr>
              <a:t>gốc</a:t>
            </a:r>
            <a:r>
              <a:rPr lang="en-US" dirty="0">
                <a:latin typeface="Arial"/>
              </a:rPr>
              <a:t>.</a:t>
            </a:r>
          </a:p>
          <a:p>
            <a:pPr>
              <a:defRPr sz="1700">
                <a:solidFill>
                  <a:srgbClr val="0F172A"/>
                </a:solidFill>
                <a:latin typeface="Arial"/>
              </a:defRPr>
            </a:pPr>
            <a:r>
              <a:rPr lang="en-US" dirty="0">
                <a:latin typeface="Arial"/>
              </a:rPr>
              <a:t>  • </a:t>
            </a:r>
            <a:r>
              <a:rPr lang="en-US" dirty="0" err="1">
                <a:latin typeface="Arial"/>
              </a:rPr>
              <a:t>Tránh</a:t>
            </a:r>
            <a:r>
              <a:rPr lang="en-US" dirty="0">
                <a:latin typeface="Arial"/>
              </a:rPr>
              <a:t> </a:t>
            </a:r>
            <a:r>
              <a:rPr lang="en-US" dirty="0" err="1">
                <a:latin typeface="Arial"/>
              </a:rPr>
              <a:t>tập</a:t>
            </a:r>
            <a:r>
              <a:rPr lang="en-US" dirty="0">
                <a:latin typeface="Arial"/>
              </a:rPr>
              <a:t> test </a:t>
            </a:r>
            <a:r>
              <a:rPr lang="en-US" dirty="0" err="1">
                <a:latin typeface="Arial"/>
              </a:rPr>
              <a:t>bị</a:t>
            </a:r>
            <a:r>
              <a:rPr lang="en-US" dirty="0">
                <a:latin typeface="Arial"/>
              </a:rPr>
              <a:t> </a:t>
            </a:r>
            <a:r>
              <a:rPr lang="en-US" dirty="0" err="1">
                <a:latin typeface="Arial"/>
              </a:rPr>
              <a:t>lệch</a:t>
            </a:r>
            <a:r>
              <a:rPr lang="en-US" dirty="0">
                <a:latin typeface="Arial"/>
              </a:rPr>
              <a:t> </a:t>
            </a:r>
            <a:r>
              <a:rPr lang="en-US" dirty="0" err="1">
                <a:latin typeface="Arial"/>
              </a:rPr>
              <a:t>nhãn</a:t>
            </a:r>
            <a:r>
              <a:rPr lang="en-US" dirty="0">
                <a:latin typeface="Arial"/>
              </a:rPr>
              <a:t>.</a:t>
            </a:r>
          </a:p>
          <a:p>
            <a:pPr>
              <a:defRPr sz="1700">
                <a:solidFill>
                  <a:srgbClr val="0F172A"/>
                </a:solidFill>
                <a:latin typeface="Arial"/>
              </a:defRPr>
            </a:pPr>
            <a:endParaRPr lang="en-US" dirty="0">
              <a:latin typeface="Arial"/>
            </a:endParaRPr>
          </a:p>
          <a:p>
            <a:pPr>
              <a:defRPr sz="1700">
                <a:solidFill>
                  <a:srgbClr val="0F172A"/>
                </a:solidFill>
                <a:latin typeface="Arial"/>
              </a:defRPr>
            </a:pPr>
            <a:r>
              <a:rPr lang="en-US" dirty="0">
                <a:latin typeface="Arial"/>
              </a:rPr>
              <a:t>• Random state: 62.</a:t>
            </a:r>
          </a:p>
          <a:p>
            <a:pPr>
              <a:defRPr sz="1700">
                <a:solidFill>
                  <a:srgbClr val="0F172A"/>
                </a:solidFill>
                <a:latin typeface="Arial"/>
              </a:defRPr>
            </a:pPr>
            <a:r>
              <a:rPr lang="en-US" dirty="0">
                <a:latin typeface="Arial"/>
              </a:rPr>
              <a:t>  • </a:t>
            </a:r>
            <a:r>
              <a:rPr lang="en-US" dirty="0" err="1">
                <a:latin typeface="Arial"/>
              </a:rPr>
              <a:t>Giúp</a:t>
            </a:r>
            <a:r>
              <a:rPr lang="en-US" dirty="0">
                <a:latin typeface="Arial"/>
              </a:rPr>
              <a:t> </a:t>
            </a:r>
            <a:r>
              <a:rPr lang="en-US" dirty="0" err="1">
                <a:latin typeface="Arial"/>
              </a:rPr>
              <a:t>kết</a:t>
            </a:r>
            <a:r>
              <a:rPr lang="en-US" dirty="0">
                <a:latin typeface="Arial"/>
              </a:rPr>
              <a:t> </a:t>
            </a:r>
            <a:r>
              <a:rPr lang="en-US" dirty="0" err="1">
                <a:latin typeface="Arial"/>
              </a:rPr>
              <a:t>quả</a:t>
            </a:r>
            <a:r>
              <a:rPr lang="en-US" dirty="0">
                <a:latin typeface="Arial"/>
              </a:rPr>
              <a:t> chia </a:t>
            </a:r>
            <a:r>
              <a:rPr lang="en-US" dirty="0" err="1">
                <a:latin typeface="Arial"/>
              </a:rPr>
              <a:t>dữ</a:t>
            </a:r>
            <a:r>
              <a:rPr lang="en-US" dirty="0">
                <a:latin typeface="Arial"/>
              </a:rPr>
              <a:t> </a:t>
            </a:r>
            <a:r>
              <a:rPr lang="en-US" dirty="0" err="1">
                <a:latin typeface="Arial"/>
              </a:rPr>
              <a:t>liệu</a:t>
            </a:r>
            <a:r>
              <a:rPr lang="en-US" dirty="0">
                <a:latin typeface="Arial"/>
              </a:rPr>
              <a:t> </a:t>
            </a:r>
            <a:r>
              <a:rPr lang="en-US" dirty="0" err="1">
                <a:latin typeface="Arial"/>
              </a:rPr>
              <a:t>có</a:t>
            </a:r>
            <a:r>
              <a:rPr lang="en-US" dirty="0">
                <a:latin typeface="Arial"/>
              </a:rPr>
              <a:t> </a:t>
            </a:r>
            <a:r>
              <a:rPr lang="en-US" dirty="0" err="1">
                <a:latin typeface="Arial"/>
              </a:rPr>
              <a:t>thể</a:t>
            </a:r>
            <a:r>
              <a:rPr lang="en-US" dirty="0">
                <a:latin typeface="Arial"/>
              </a:rPr>
              <a:t> </a:t>
            </a:r>
            <a:r>
              <a:rPr lang="en-US" dirty="0" err="1">
                <a:latin typeface="Arial"/>
              </a:rPr>
              <a:t>lặp</a:t>
            </a:r>
            <a:r>
              <a:rPr lang="en-US" dirty="0">
                <a:latin typeface="Arial"/>
              </a:rPr>
              <a:t> </a:t>
            </a:r>
            <a:r>
              <a:rPr lang="en-US" dirty="0" err="1">
                <a:latin typeface="Arial"/>
              </a:rPr>
              <a:t>lại</a:t>
            </a:r>
            <a:r>
              <a:rPr lang="en-US" dirty="0">
                <a:latin typeface="Arial"/>
              </a:rPr>
              <a:t>.</a:t>
            </a:r>
          </a:p>
          <a:p>
            <a:pPr>
              <a:defRPr sz="1700">
                <a:solidFill>
                  <a:srgbClr val="0F172A"/>
                </a:solidFill>
                <a:latin typeface="Arial"/>
              </a:defRPr>
            </a:pPr>
            <a:endParaRPr lang="en-US" dirty="0">
              <a:latin typeface="Arial"/>
            </a:endParaRPr>
          </a:p>
          <a:p>
            <a:pPr>
              <a:defRPr sz="1700">
                <a:solidFill>
                  <a:srgbClr val="0F172A"/>
                </a:solidFill>
                <a:latin typeface="Arial"/>
              </a:defRPr>
            </a:pPr>
            <a:r>
              <a:rPr lang="en-US" dirty="0">
                <a:latin typeface="Arial"/>
              </a:rPr>
              <a:t>• Metrics:</a:t>
            </a:r>
          </a:p>
          <a:p>
            <a:pPr>
              <a:defRPr sz="1700">
                <a:solidFill>
                  <a:srgbClr val="0F172A"/>
                </a:solidFill>
                <a:latin typeface="Arial"/>
              </a:defRPr>
            </a:pPr>
            <a:r>
              <a:rPr lang="en-US" dirty="0">
                <a:latin typeface="Arial"/>
              </a:rPr>
              <a:t>  • Accuracy: </a:t>
            </a:r>
            <a:r>
              <a:rPr lang="en-US" dirty="0" err="1">
                <a:latin typeface="Arial"/>
              </a:rPr>
              <a:t>tỉ</a:t>
            </a:r>
            <a:r>
              <a:rPr lang="en-US" dirty="0">
                <a:latin typeface="Arial"/>
              </a:rPr>
              <a:t> </a:t>
            </a:r>
            <a:r>
              <a:rPr lang="en-US" dirty="0" err="1">
                <a:latin typeface="Arial"/>
              </a:rPr>
              <a:t>lệ</a:t>
            </a:r>
            <a:r>
              <a:rPr lang="en-US" dirty="0">
                <a:latin typeface="Arial"/>
              </a:rPr>
              <a:t> </a:t>
            </a:r>
            <a:r>
              <a:rPr lang="en-US" dirty="0" err="1">
                <a:latin typeface="Arial"/>
              </a:rPr>
              <a:t>dự</a:t>
            </a:r>
            <a:r>
              <a:rPr lang="en-US" dirty="0">
                <a:latin typeface="Arial"/>
              </a:rPr>
              <a:t> </a:t>
            </a:r>
            <a:r>
              <a:rPr lang="en-US" dirty="0" err="1">
                <a:latin typeface="Arial"/>
              </a:rPr>
              <a:t>đoán</a:t>
            </a:r>
            <a:r>
              <a:rPr lang="en-US" dirty="0">
                <a:latin typeface="Arial"/>
              </a:rPr>
              <a:t> </a:t>
            </a:r>
            <a:r>
              <a:rPr lang="en-US" dirty="0" err="1">
                <a:latin typeface="Arial"/>
              </a:rPr>
              <a:t>đúng</a:t>
            </a:r>
            <a:r>
              <a:rPr lang="en-US" dirty="0">
                <a:latin typeface="Arial"/>
              </a:rPr>
              <a:t> </a:t>
            </a:r>
            <a:r>
              <a:rPr lang="en-US" dirty="0" err="1">
                <a:latin typeface="Arial"/>
              </a:rPr>
              <a:t>trên</a:t>
            </a:r>
            <a:r>
              <a:rPr lang="en-US" dirty="0">
                <a:latin typeface="Arial"/>
              </a:rPr>
              <a:t> </a:t>
            </a:r>
            <a:r>
              <a:rPr lang="en-US" dirty="0" err="1">
                <a:latin typeface="Arial"/>
              </a:rPr>
              <a:t>toàn</a:t>
            </a:r>
            <a:r>
              <a:rPr lang="en-US" dirty="0">
                <a:latin typeface="Arial"/>
              </a:rPr>
              <a:t> </a:t>
            </a:r>
            <a:r>
              <a:rPr lang="en-US" dirty="0" err="1">
                <a:latin typeface="Arial"/>
              </a:rPr>
              <a:t>bộ</a:t>
            </a:r>
            <a:r>
              <a:rPr lang="en-US" dirty="0">
                <a:latin typeface="Arial"/>
              </a:rPr>
              <a:t> </a:t>
            </a:r>
            <a:r>
              <a:rPr lang="en-US" dirty="0" err="1">
                <a:latin typeface="Arial"/>
              </a:rPr>
              <a:t>tập</a:t>
            </a:r>
            <a:r>
              <a:rPr lang="en-US" dirty="0">
                <a:latin typeface="Arial"/>
              </a:rPr>
              <a:t> test.</a:t>
            </a:r>
          </a:p>
          <a:p>
            <a:pPr>
              <a:defRPr sz="1700">
                <a:solidFill>
                  <a:srgbClr val="0F172A"/>
                </a:solidFill>
                <a:latin typeface="Arial"/>
              </a:defRPr>
            </a:pPr>
            <a:r>
              <a:rPr lang="en-US" dirty="0">
                <a:latin typeface="Arial"/>
              </a:rPr>
              <a:t>  • Macro F1: </a:t>
            </a:r>
            <a:r>
              <a:rPr lang="en-US" dirty="0" err="1">
                <a:latin typeface="Arial"/>
              </a:rPr>
              <a:t>trung</a:t>
            </a:r>
            <a:r>
              <a:rPr lang="en-US" dirty="0">
                <a:latin typeface="Arial"/>
              </a:rPr>
              <a:t> </a:t>
            </a:r>
            <a:r>
              <a:rPr lang="en-US" dirty="0" err="1">
                <a:latin typeface="Arial"/>
              </a:rPr>
              <a:t>bình</a:t>
            </a:r>
            <a:r>
              <a:rPr lang="en-US" dirty="0">
                <a:latin typeface="Arial"/>
              </a:rPr>
              <a:t> F1 </a:t>
            </a:r>
            <a:r>
              <a:rPr lang="en-US" dirty="0" err="1">
                <a:latin typeface="Arial"/>
              </a:rPr>
              <a:t>của</a:t>
            </a:r>
            <a:r>
              <a:rPr lang="en-US" dirty="0">
                <a:latin typeface="Arial"/>
              </a:rPr>
              <a:t> </a:t>
            </a:r>
            <a:r>
              <a:rPr lang="en-US" dirty="0" err="1">
                <a:latin typeface="Arial"/>
              </a:rPr>
              <a:t>các</a:t>
            </a:r>
            <a:r>
              <a:rPr lang="en-US" dirty="0">
                <a:latin typeface="Arial"/>
              </a:rPr>
              <a:t> </a:t>
            </a:r>
            <a:r>
              <a:rPr lang="en-US" dirty="0" err="1">
                <a:latin typeface="Arial"/>
              </a:rPr>
              <a:t>lớp</a:t>
            </a:r>
            <a:r>
              <a:rPr lang="en-US" dirty="0">
                <a:latin typeface="Arial"/>
              </a:rPr>
              <a:t>, </a:t>
            </a:r>
            <a:r>
              <a:rPr lang="en-US" dirty="0" err="1">
                <a:latin typeface="Arial"/>
              </a:rPr>
              <a:t>phù</a:t>
            </a:r>
            <a:r>
              <a:rPr lang="en-US" dirty="0">
                <a:latin typeface="Arial"/>
              </a:rPr>
              <a:t> </a:t>
            </a:r>
            <a:r>
              <a:rPr lang="en-US" dirty="0" err="1">
                <a:latin typeface="Arial"/>
              </a:rPr>
              <a:t>hợp</a:t>
            </a:r>
            <a:r>
              <a:rPr lang="en-US" dirty="0">
                <a:latin typeface="Arial"/>
              </a:rPr>
              <a:t> </a:t>
            </a:r>
            <a:r>
              <a:rPr lang="en-US" dirty="0" err="1">
                <a:latin typeface="Arial"/>
              </a:rPr>
              <a:t>khi</a:t>
            </a:r>
            <a:r>
              <a:rPr lang="en-US" dirty="0">
                <a:latin typeface="Arial"/>
              </a:rPr>
              <a:t> </a:t>
            </a:r>
            <a:r>
              <a:rPr lang="en-US" dirty="0" err="1">
                <a:latin typeface="Arial"/>
              </a:rPr>
              <a:t>dữ</a:t>
            </a:r>
            <a:r>
              <a:rPr lang="en-US" dirty="0">
                <a:latin typeface="Arial"/>
              </a:rPr>
              <a:t> </a:t>
            </a:r>
            <a:r>
              <a:rPr lang="en-US" dirty="0" err="1">
                <a:latin typeface="Arial"/>
              </a:rPr>
              <a:t>liệu</a:t>
            </a:r>
            <a:r>
              <a:rPr lang="en-US" dirty="0">
                <a:latin typeface="Arial"/>
              </a:rPr>
              <a:t> </a:t>
            </a:r>
            <a:r>
              <a:rPr lang="en-US" dirty="0" err="1">
                <a:latin typeface="Arial"/>
              </a:rPr>
              <a:t>lệch</a:t>
            </a:r>
            <a:r>
              <a:rPr lang="en-US" dirty="0">
                <a:latin typeface="Arial"/>
              </a:rPr>
              <a:t> </a:t>
            </a:r>
            <a:r>
              <a:rPr lang="en-US" dirty="0" err="1">
                <a:latin typeface="Arial"/>
              </a:rPr>
              <a:t>nhãn</a:t>
            </a:r>
            <a:r>
              <a:rPr lang="en-US" dirty="0">
                <a:latin typeface="Arial"/>
              </a:rPr>
              <a:t>.</a:t>
            </a:r>
            <a:endParaRPr dirty="0">
              <a:latin typeface="Arial"/>
            </a:endParaRPr>
          </a:p>
        </p:txBody>
      </p:sp>
      <p:graphicFrame>
        <p:nvGraphicFramePr>
          <p:cNvPr id="7" name="Table 6"/>
          <p:cNvGraphicFramePr>
            <a:graphicFrameLocks noGrp="1"/>
          </p:cNvGraphicFramePr>
          <p:nvPr>
            <p:extLst>
              <p:ext uri="{D42A27DB-BD31-4B8C-83A1-F6EECF244321}">
                <p14:modId xmlns:p14="http://schemas.microsoft.com/office/powerpoint/2010/main" val="547189928"/>
              </p:ext>
            </p:extLst>
          </p:nvPr>
        </p:nvGraphicFramePr>
        <p:xfrm>
          <a:off x="5257800" y="1417320"/>
          <a:ext cx="6217920" cy="182880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365760">
                <a:tc>
                  <a:txBody>
                    <a:bodyPr/>
                    <a:lstStyle/>
                    <a:p>
                      <a:pPr>
                        <a:defRPr sz="1100" b="1">
                          <a:solidFill>
                            <a:srgbClr val="FFFFFF"/>
                          </a:solidFill>
                          <a:latin typeface="Arial"/>
                        </a:defRPr>
                      </a:pPr>
                      <a:r>
                        <a:rPr dirty="0"/>
                        <a:t>Task</a:t>
                      </a:r>
                    </a:p>
                  </a:txBody>
                  <a:tcPr>
                    <a:solidFill>
                      <a:srgbClr val="142A41"/>
                    </a:solidFill>
                  </a:tcPr>
                </a:tc>
                <a:tc>
                  <a:txBody>
                    <a:bodyPr/>
                    <a:lstStyle/>
                    <a:p>
                      <a:pPr>
                        <a:defRPr sz="1100" b="1">
                          <a:solidFill>
                            <a:srgbClr val="FFFFFF"/>
                          </a:solidFill>
                          <a:latin typeface="Arial"/>
                        </a:defRPr>
                      </a:pPr>
                      <a:r>
                        <a:rPr lang="en-US" dirty="0"/>
                        <a:t>C</a:t>
                      </a:r>
                      <a:r>
                        <a:rPr dirty="0"/>
                        <a:t>onfiguration</a:t>
                      </a:r>
                    </a:p>
                  </a:txBody>
                  <a:tcPr>
                    <a:solidFill>
                      <a:srgbClr val="142A41"/>
                    </a:solidFill>
                  </a:tcPr>
                </a:tc>
                <a:tc>
                  <a:txBody>
                    <a:bodyPr/>
                    <a:lstStyle/>
                    <a:p>
                      <a:pPr>
                        <a:defRPr sz="1100" b="1">
                          <a:solidFill>
                            <a:srgbClr val="FFFFFF"/>
                          </a:solidFill>
                          <a:latin typeface="Arial"/>
                        </a:defRPr>
                      </a:pPr>
                      <a:r>
                        <a:t>Accuracy</a:t>
                      </a:r>
                    </a:p>
                  </a:txBody>
                  <a:tcPr>
                    <a:solidFill>
                      <a:srgbClr val="142A41"/>
                    </a:solidFill>
                  </a:tcPr>
                </a:tc>
                <a:tc>
                  <a:txBody>
                    <a:bodyPr/>
                    <a:lstStyle/>
                    <a:p>
                      <a:pPr>
                        <a:defRPr sz="1100" b="1">
                          <a:solidFill>
                            <a:srgbClr val="FFFFFF"/>
                          </a:solidFill>
                          <a:latin typeface="Arial"/>
                        </a:defRPr>
                      </a:pPr>
                      <a:r>
                        <a:t>Macro F1</a:t>
                      </a:r>
                    </a:p>
                  </a:txBody>
                  <a:tcPr>
                    <a:solidFill>
                      <a:srgbClr val="142A41"/>
                    </a:solidFill>
                  </a:tcPr>
                </a:tc>
                <a:extLst>
                  <a:ext uri="{0D108BD9-81ED-4DB2-BD59-A6C34878D82A}">
                    <a16:rowId xmlns:a16="http://schemas.microsoft.com/office/drawing/2014/main" val="10000"/>
                  </a:ext>
                </a:extLst>
              </a:tr>
              <a:tr h="365760">
                <a:tc>
                  <a:txBody>
                    <a:bodyPr/>
                    <a:lstStyle/>
                    <a:p>
                      <a:pPr>
                        <a:defRPr sz="1100" b="0">
                          <a:solidFill>
                            <a:srgbClr val="0F172A"/>
                          </a:solidFill>
                          <a:latin typeface="Arial"/>
                        </a:defRPr>
                      </a:pPr>
                      <a:r>
                        <a:t>Sentiment</a:t>
                      </a:r>
                    </a:p>
                  </a:txBody>
                  <a:tcPr>
                    <a:solidFill>
                      <a:srgbClr val="F8FAFC"/>
                    </a:solidFill>
                  </a:tcPr>
                </a:tc>
                <a:tc>
                  <a:txBody>
                    <a:bodyPr/>
                    <a:lstStyle/>
                    <a:p>
                      <a:pPr>
                        <a:defRPr sz="1000" b="0">
                          <a:solidFill>
                            <a:srgbClr val="0F172A"/>
                          </a:solidFill>
                          <a:latin typeface="Arial"/>
                        </a:defRPr>
                      </a:pPr>
                      <a:r>
                        <a:rPr dirty="0"/>
                        <a:t>TF-IDF unigram + bigram + Linear SVM</a:t>
                      </a:r>
                    </a:p>
                  </a:txBody>
                  <a:tcPr>
                    <a:solidFill>
                      <a:srgbClr val="F8FAFC"/>
                    </a:solidFill>
                  </a:tcPr>
                </a:tc>
                <a:tc>
                  <a:txBody>
                    <a:bodyPr/>
                    <a:lstStyle/>
                    <a:p>
                      <a:pPr>
                        <a:defRPr sz="1100" b="0">
                          <a:solidFill>
                            <a:srgbClr val="0F172A"/>
                          </a:solidFill>
                          <a:latin typeface="Arial"/>
                        </a:defRPr>
                      </a:pPr>
                      <a:r>
                        <a:t>0.8318</a:t>
                      </a:r>
                    </a:p>
                  </a:txBody>
                  <a:tcPr>
                    <a:solidFill>
                      <a:srgbClr val="F8FAFC"/>
                    </a:solidFill>
                  </a:tcPr>
                </a:tc>
                <a:tc>
                  <a:txBody>
                    <a:bodyPr/>
                    <a:lstStyle/>
                    <a:p>
                      <a:pPr>
                        <a:defRPr sz="1100" b="0">
                          <a:solidFill>
                            <a:srgbClr val="0F172A"/>
                          </a:solidFill>
                          <a:latin typeface="Arial"/>
                        </a:defRPr>
                      </a:pPr>
                      <a:r>
                        <a:t>0.7993</a:t>
                      </a:r>
                    </a:p>
                  </a:txBody>
                  <a:tcPr>
                    <a:solidFill>
                      <a:srgbClr val="F8FAFC"/>
                    </a:solidFill>
                  </a:tcPr>
                </a:tc>
                <a:extLst>
                  <a:ext uri="{0D108BD9-81ED-4DB2-BD59-A6C34878D82A}">
                    <a16:rowId xmlns:a16="http://schemas.microsoft.com/office/drawing/2014/main" val="10001"/>
                  </a:ext>
                </a:extLst>
              </a:tr>
              <a:tr h="365760">
                <a:tc>
                  <a:txBody>
                    <a:bodyPr/>
                    <a:lstStyle/>
                    <a:p>
                      <a:pPr>
                        <a:defRPr sz="1100" b="0">
                          <a:solidFill>
                            <a:srgbClr val="0F172A"/>
                          </a:solidFill>
                          <a:latin typeface="Arial"/>
                        </a:defRPr>
                      </a:pPr>
                      <a:r>
                        <a:rPr dirty="0"/>
                        <a:t>Issue ML-only</a:t>
                      </a:r>
                    </a:p>
                  </a:txBody>
                  <a:tcPr>
                    <a:solidFill>
                      <a:srgbClr val="FFFFFF"/>
                    </a:solidFill>
                  </a:tcPr>
                </a:tc>
                <a:tc>
                  <a:txBody>
                    <a:bodyPr/>
                    <a:lstStyle/>
                    <a:p>
                      <a:pPr>
                        <a:defRPr sz="1000" b="0">
                          <a:solidFill>
                            <a:srgbClr val="0F172A"/>
                          </a:solidFill>
                          <a:latin typeface="Arial"/>
                        </a:defRPr>
                      </a:pPr>
                      <a:r>
                        <a:t>TF-IDF word + char + Linear SVM</a:t>
                      </a:r>
                    </a:p>
                  </a:txBody>
                  <a:tcPr>
                    <a:solidFill>
                      <a:srgbClr val="FFFFFF"/>
                    </a:solidFill>
                  </a:tcPr>
                </a:tc>
                <a:tc>
                  <a:txBody>
                    <a:bodyPr/>
                    <a:lstStyle/>
                    <a:p>
                      <a:pPr>
                        <a:defRPr sz="1100" b="0">
                          <a:solidFill>
                            <a:srgbClr val="0F172A"/>
                          </a:solidFill>
                          <a:latin typeface="Arial"/>
                        </a:defRPr>
                      </a:pPr>
                      <a:r>
                        <a:t>0.7773</a:t>
                      </a:r>
                    </a:p>
                  </a:txBody>
                  <a:tcPr>
                    <a:solidFill>
                      <a:srgbClr val="FFFFFF"/>
                    </a:solidFill>
                  </a:tcPr>
                </a:tc>
                <a:tc>
                  <a:txBody>
                    <a:bodyPr/>
                    <a:lstStyle/>
                    <a:p>
                      <a:pPr>
                        <a:defRPr sz="1100" b="0">
                          <a:solidFill>
                            <a:srgbClr val="0F172A"/>
                          </a:solidFill>
                          <a:latin typeface="Arial"/>
                        </a:defRPr>
                      </a:pPr>
                      <a:r>
                        <a:t>0.7101</a:t>
                      </a:r>
                    </a:p>
                  </a:txBody>
                  <a:tcPr>
                    <a:solidFill>
                      <a:srgbClr val="FFFFFF"/>
                    </a:solidFill>
                  </a:tcPr>
                </a:tc>
                <a:extLst>
                  <a:ext uri="{0D108BD9-81ED-4DB2-BD59-A6C34878D82A}">
                    <a16:rowId xmlns:a16="http://schemas.microsoft.com/office/drawing/2014/main" val="10002"/>
                  </a:ext>
                </a:extLst>
              </a:tr>
              <a:tr h="365760">
                <a:tc>
                  <a:txBody>
                    <a:bodyPr/>
                    <a:lstStyle/>
                    <a:p>
                      <a:pPr>
                        <a:defRPr sz="1100" b="0">
                          <a:solidFill>
                            <a:srgbClr val="0F172A"/>
                          </a:solidFill>
                          <a:latin typeface="Arial"/>
                        </a:defRPr>
                      </a:pPr>
                      <a:r>
                        <a:rPr dirty="0"/>
                        <a:t>Issue final</a:t>
                      </a:r>
                    </a:p>
                  </a:txBody>
                  <a:tcPr>
                    <a:solidFill>
                      <a:srgbClr val="F8FAFC"/>
                    </a:solidFill>
                  </a:tcPr>
                </a:tc>
                <a:tc>
                  <a:txBody>
                    <a:bodyPr/>
                    <a:lstStyle/>
                    <a:p>
                      <a:pPr>
                        <a:defRPr sz="1000" b="0">
                          <a:solidFill>
                            <a:srgbClr val="0F172A"/>
                          </a:solidFill>
                          <a:latin typeface="Arial"/>
                        </a:defRPr>
                      </a:pPr>
                      <a:r>
                        <a:t>Linear SVM + safe issue rules</a:t>
                      </a:r>
                    </a:p>
                  </a:txBody>
                  <a:tcPr>
                    <a:solidFill>
                      <a:srgbClr val="F8FAFC"/>
                    </a:solidFill>
                  </a:tcPr>
                </a:tc>
                <a:tc>
                  <a:txBody>
                    <a:bodyPr/>
                    <a:lstStyle/>
                    <a:p>
                      <a:pPr>
                        <a:defRPr sz="1100" b="0">
                          <a:solidFill>
                            <a:srgbClr val="0F172A"/>
                          </a:solidFill>
                          <a:latin typeface="Arial"/>
                        </a:defRPr>
                      </a:pPr>
                      <a:r>
                        <a:t>0.7849</a:t>
                      </a:r>
                    </a:p>
                  </a:txBody>
                  <a:tcPr>
                    <a:solidFill>
                      <a:srgbClr val="F8FAFC"/>
                    </a:solidFill>
                  </a:tcPr>
                </a:tc>
                <a:tc>
                  <a:txBody>
                    <a:bodyPr/>
                    <a:lstStyle/>
                    <a:p>
                      <a:pPr>
                        <a:defRPr sz="1100" b="0">
                          <a:solidFill>
                            <a:srgbClr val="0F172A"/>
                          </a:solidFill>
                          <a:latin typeface="Arial"/>
                        </a:defRPr>
                      </a:pPr>
                      <a:r>
                        <a:t>0.7323</a:t>
                      </a:r>
                    </a:p>
                  </a:txBody>
                  <a:tcPr>
                    <a:solidFill>
                      <a:srgbClr val="F8FAFC"/>
                    </a:solidFill>
                  </a:tcPr>
                </a:tc>
                <a:extLst>
                  <a:ext uri="{0D108BD9-81ED-4DB2-BD59-A6C34878D82A}">
                    <a16:rowId xmlns:a16="http://schemas.microsoft.com/office/drawing/2014/main" val="10003"/>
                  </a:ext>
                </a:extLst>
              </a:tr>
              <a:tr h="365760">
                <a:tc>
                  <a:txBody>
                    <a:bodyPr/>
                    <a:lstStyle/>
                    <a:p>
                      <a:pPr>
                        <a:defRPr sz="1100" b="0">
                          <a:solidFill>
                            <a:srgbClr val="0F172A"/>
                          </a:solidFill>
                          <a:latin typeface="Arial"/>
                        </a:defRPr>
                      </a:pPr>
                      <a:r>
                        <a:t>NB baseline</a:t>
                      </a:r>
                    </a:p>
                  </a:txBody>
                  <a:tcPr>
                    <a:solidFill>
                      <a:srgbClr val="FFFFFF"/>
                    </a:solidFill>
                  </a:tcPr>
                </a:tc>
                <a:tc>
                  <a:txBody>
                    <a:bodyPr/>
                    <a:lstStyle/>
                    <a:p>
                      <a:pPr>
                        <a:defRPr sz="1000" b="0">
                          <a:solidFill>
                            <a:srgbClr val="0F172A"/>
                          </a:solidFill>
                          <a:latin typeface="Arial"/>
                        </a:defRPr>
                      </a:pPr>
                      <a:r>
                        <a:rPr lang="en-US" dirty="0"/>
                        <a:t>unigram + bigram counts + Naive Bayes</a:t>
                      </a:r>
                      <a:endParaRPr dirty="0"/>
                    </a:p>
                  </a:txBody>
                  <a:tcPr>
                    <a:solidFill>
                      <a:srgbClr val="FFFFFF"/>
                    </a:solidFill>
                  </a:tcPr>
                </a:tc>
                <a:tc>
                  <a:txBody>
                    <a:bodyPr/>
                    <a:lstStyle/>
                    <a:p>
                      <a:pPr>
                        <a:defRPr sz="1100" b="0">
                          <a:solidFill>
                            <a:srgbClr val="0F172A"/>
                          </a:solidFill>
                          <a:latin typeface="Arial"/>
                        </a:defRPr>
                      </a:pPr>
                      <a:r>
                        <a:t>0.6997</a:t>
                      </a:r>
                    </a:p>
                  </a:txBody>
                  <a:tcPr>
                    <a:solidFill>
                      <a:srgbClr val="FFFFFF"/>
                    </a:solidFill>
                  </a:tcPr>
                </a:tc>
                <a:tc>
                  <a:txBody>
                    <a:bodyPr/>
                    <a:lstStyle/>
                    <a:p>
                      <a:pPr>
                        <a:defRPr sz="1100" b="0">
                          <a:solidFill>
                            <a:srgbClr val="0F172A"/>
                          </a:solidFill>
                          <a:latin typeface="Arial"/>
                        </a:defRPr>
                      </a:pPr>
                      <a:r>
                        <a:rPr dirty="0"/>
                        <a:t>0.6318</a:t>
                      </a:r>
                    </a:p>
                  </a:txBody>
                  <a:tcPr>
                    <a:solidFill>
                      <a:srgbClr val="FFFFFF"/>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5303520" y="4069080"/>
            <a:ext cx="5989320" cy="11430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55767" y="4091940"/>
            <a:ext cx="1280160" cy="228600"/>
          </a:xfrm>
          <a:prstGeom prst="rect">
            <a:avLst/>
          </a:prstGeom>
          <a:noFill/>
        </p:spPr>
        <p:txBody>
          <a:bodyPr wrap="square">
            <a:normAutofit fontScale="85000" lnSpcReduction="20000"/>
          </a:bodyPr>
          <a:lstStyle/>
          <a:p>
            <a:pPr algn="l"/>
            <a:r>
              <a:rPr sz="1300" b="1">
                <a:solidFill>
                  <a:srgbClr val="142A41"/>
                </a:solidFill>
                <a:latin typeface="Arial"/>
              </a:rPr>
              <a:t>Takeaway</a:t>
            </a:r>
          </a:p>
        </p:txBody>
      </p:sp>
      <p:sp>
        <p:nvSpPr>
          <p:cNvPr id="10" name="TextBox 9"/>
          <p:cNvSpPr txBox="1"/>
          <p:nvPr/>
        </p:nvSpPr>
        <p:spPr>
          <a:xfrm>
            <a:off x="5455767" y="4343400"/>
            <a:ext cx="5837073" cy="868680"/>
          </a:xfrm>
          <a:prstGeom prst="rect">
            <a:avLst/>
          </a:prstGeom>
          <a:noFill/>
        </p:spPr>
        <p:txBody>
          <a:bodyPr wrap="square">
            <a:normAutofit fontScale="92500" lnSpcReduction="10000"/>
          </a:bodyPr>
          <a:lstStyle/>
          <a:p>
            <a:pPr algn="l"/>
            <a:r>
              <a:rPr lang="vi-VN" sz="1400" b="0" dirty="0">
                <a:solidFill>
                  <a:srgbClr val="0F172A"/>
                </a:solidFill>
                <a:latin typeface="Arial"/>
              </a:rPr>
              <a:t>TF-IDF + Linear SVM là mô hình chính vì cho kết quả tốt nhất trên dữ liệu review.</a:t>
            </a:r>
          </a:p>
          <a:p>
            <a:pPr algn="l"/>
            <a:r>
              <a:rPr lang="vi-VN" sz="1400" b="0" dirty="0">
                <a:solidFill>
                  <a:srgbClr val="0F172A"/>
                </a:solidFill>
                <a:latin typeface="Arial"/>
              </a:rPr>
              <a:t>Safe issue rules giúp cải thiện issue classification ở các trường hợp rõ ràng</a:t>
            </a:r>
          </a:p>
          <a:p>
            <a:pPr algn="l"/>
            <a:r>
              <a:rPr lang="vi-VN" sz="1400" b="0" dirty="0">
                <a:solidFill>
                  <a:srgbClr val="0F172A"/>
                </a:solidFill>
                <a:latin typeface="Arial"/>
              </a:rPr>
              <a:t>như giao chậm, thiếu hàng, giao sai hoặc đóng gói lỗi.</a:t>
            </a:r>
            <a:endParaRPr sz="1400" b="0" dirty="0">
              <a:solidFill>
                <a:srgbClr val="0F172A"/>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sz="2800" b="1">
                <a:solidFill>
                  <a:srgbClr val="142A41"/>
                </a:solidFill>
                <a:latin typeface="Arial"/>
              </a:rPr>
              <a:t>Sentiment Results</a:t>
            </a: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10/15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Rounded Rectangle 5"/>
          <p:cNvSpPr/>
          <p:nvPr/>
        </p:nvSpPr>
        <p:spPr>
          <a:xfrm>
            <a:off x="685800" y="1143000"/>
            <a:ext cx="2011680" cy="9144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280160"/>
            <a:ext cx="1737360" cy="201168"/>
          </a:xfrm>
          <a:prstGeom prst="rect">
            <a:avLst/>
          </a:prstGeom>
          <a:noFill/>
        </p:spPr>
        <p:txBody>
          <a:bodyPr wrap="square">
            <a:normAutofit fontScale="92500" lnSpcReduction="20000"/>
          </a:bodyPr>
          <a:lstStyle/>
          <a:p>
            <a:pPr algn="l"/>
            <a:r>
              <a:rPr sz="1000" b="1">
                <a:solidFill>
                  <a:srgbClr val="475569"/>
                </a:solidFill>
                <a:latin typeface="Arial"/>
              </a:rPr>
              <a:t>Accuracy</a:t>
            </a:r>
          </a:p>
        </p:txBody>
      </p:sp>
      <p:sp>
        <p:nvSpPr>
          <p:cNvPr id="8" name="TextBox 7"/>
          <p:cNvSpPr txBox="1"/>
          <p:nvPr/>
        </p:nvSpPr>
        <p:spPr>
          <a:xfrm>
            <a:off x="822960" y="1527048"/>
            <a:ext cx="1737360" cy="347472"/>
          </a:xfrm>
          <a:prstGeom prst="rect">
            <a:avLst/>
          </a:prstGeom>
          <a:noFill/>
        </p:spPr>
        <p:txBody>
          <a:bodyPr wrap="square">
            <a:normAutofit fontScale="85000" lnSpcReduction="20000"/>
          </a:bodyPr>
          <a:lstStyle/>
          <a:p>
            <a:pPr algn="l"/>
            <a:r>
              <a:rPr sz="2400" b="1">
                <a:solidFill>
                  <a:srgbClr val="2563EB"/>
                </a:solidFill>
                <a:latin typeface="Arial"/>
              </a:rPr>
              <a:t>0.8318</a:t>
            </a:r>
          </a:p>
        </p:txBody>
      </p:sp>
      <p:sp>
        <p:nvSpPr>
          <p:cNvPr id="9" name="Rounded Rectangle 8"/>
          <p:cNvSpPr/>
          <p:nvPr/>
        </p:nvSpPr>
        <p:spPr>
          <a:xfrm>
            <a:off x="2880360" y="1143000"/>
            <a:ext cx="2011680" cy="9144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17520" y="1280160"/>
            <a:ext cx="1737360" cy="201168"/>
          </a:xfrm>
          <a:prstGeom prst="rect">
            <a:avLst/>
          </a:prstGeom>
          <a:noFill/>
        </p:spPr>
        <p:txBody>
          <a:bodyPr wrap="square">
            <a:normAutofit fontScale="92500" lnSpcReduction="20000"/>
          </a:bodyPr>
          <a:lstStyle/>
          <a:p>
            <a:pPr algn="l"/>
            <a:r>
              <a:rPr sz="1000" b="1">
                <a:solidFill>
                  <a:srgbClr val="475569"/>
                </a:solidFill>
                <a:latin typeface="Arial"/>
              </a:rPr>
              <a:t>Macro F1</a:t>
            </a:r>
          </a:p>
        </p:txBody>
      </p:sp>
      <p:sp>
        <p:nvSpPr>
          <p:cNvPr id="11" name="TextBox 10"/>
          <p:cNvSpPr txBox="1"/>
          <p:nvPr/>
        </p:nvSpPr>
        <p:spPr>
          <a:xfrm>
            <a:off x="3017520" y="1527048"/>
            <a:ext cx="1737360" cy="347472"/>
          </a:xfrm>
          <a:prstGeom prst="rect">
            <a:avLst/>
          </a:prstGeom>
          <a:noFill/>
        </p:spPr>
        <p:txBody>
          <a:bodyPr wrap="square">
            <a:normAutofit fontScale="85000" lnSpcReduction="20000"/>
          </a:bodyPr>
          <a:lstStyle/>
          <a:p>
            <a:pPr algn="l"/>
            <a:r>
              <a:rPr sz="2400" b="1">
                <a:solidFill>
                  <a:srgbClr val="0F766E"/>
                </a:solidFill>
                <a:latin typeface="Arial"/>
              </a:rPr>
              <a:t>0.7993</a:t>
            </a:r>
          </a:p>
        </p:txBody>
      </p:sp>
      <p:sp>
        <p:nvSpPr>
          <p:cNvPr id="12" name="Rounded Rectangle 11"/>
          <p:cNvSpPr/>
          <p:nvPr/>
        </p:nvSpPr>
        <p:spPr>
          <a:xfrm>
            <a:off x="5074920" y="1143000"/>
            <a:ext cx="2011680" cy="9144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12080" y="1280160"/>
            <a:ext cx="1737360" cy="201168"/>
          </a:xfrm>
          <a:prstGeom prst="rect">
            <a:avLst/>
          </a:prstGeom>
          <a:noFill/>
        </p:spPr>
        <p:txBody>
          <a:bodyPr wrap="square">
            <a:normAutofit fontScale="92500" lnSpcReduction="20000"/>
          </a:bodyPr>
          <a:lstStyle/>
          <a:p>
            <a:pPr algn="l"/>
            <a:r>
              <a:rPr sz="1000" b="1">
                <a:solidFill>
                  <a:srgbClr val="475569"/>
                </a:solidFill>
                <a:latin typeface="Arial"/>
              </a:rPr>
              <a:t>Best model</a:t>
            </a:r>
          </a:p>
        </p:txBody>
      </p:sp>
      <p:sp>
        <p:nvSpPr>
          <p:cNvPr id="14" name="TextBox 13"/>
          <p:cNvSpPr txBox="1"/>
          <p:nvPr/>
        </p:nvSpPr>
        <p:spPr>
          <a:xfrm>
            <a:off x="5212080" y="1527048"/>
            <a:ext cx="1737360" cy="347472"/>
          </a:xfrm>
          <a:prstGeom prst="rect">
            <a:avLst/>
          </a:prstGeom>
          <a:noFill/>
        </p:spPr>
        <p:txBody>
          <a:bodyPr wrap="square">
            <a:normAutofit fontScale="85000" lnSpcReduction="20000"/>
          </a:bodyPr>
          <a:lstStyle/>
          <a:p>
            <a:pPr algn="l"/>
            <a:r>
              <a:rPr sz="2400" b="1">
                <a:solidFill>
                  <a:srgbClr val="D97706"/>
                </a:solidFill>
                <a:latin typeface="Arial"/>
              </a:rPr>
              <a:t>SVM</a:t>
            </a:r>
          </a:p>
        </p:txBody>
      </p:sp>
      <p:sp>
        <p:nvSpPr>
          <p:cNvPr id="15" name="TextBox 14"/>
          <p:cNvSpPr txBox="1"/>
          <p:nvPr/>
        </p:nvSpPr>
        <p:spPr>
          <a:xfrm>
            <a:off x="777240" y="2423160"/>
            <a:ext cx="4480560" cy="3291840"/>
          </a:xfrm>
          <a:prstGeom prst="rect">
            <a:avLst/>
          </a:prstGeom>
          <a:noFill/>
        </p:spPr>
        <p:txBody>
          <a:bodyPr wrap="square">
            <a:normAutofit/>
          </a:bodyPr>
          <a:lstStyle/>
          <a:p>
            <a:pPr>
              <a:defRPr sz="1700">
                <a:solidFill>
                  <a:srgbClr val="0F172A"/>
                </a:solidFill>
                <a:latin typeface="Arial"/>
              </a:defRPr>
            </a:pPr>
            <a:r>
              <a:rPr>
                <a:latin typeface="Arial"/>
              </a:rPr>
              <a:t>• F1 theo lớp:</a:t>
            </a:r>
          </a:p>
          <a:p>
            <a:pPr lvl="1">
              <a:defRPr sz="1500">
                <a:solidFill>
                  <a:srgbClr val="475569"/>
                </a:solidFill>
                <a:latin typeface="Arial"/>
              </a:defRPr>
            </a:pPr>
            <a:r>
              <a:rPr>
                <a:latin typeface="Arial"/>
              </a:rPr>
              <a:t>• negative: 0.89</a:t>
            </a:r>
          </a:p>
          <a:p>
            <a:pPr lvl="1">
              <a:defRPr sz="1500">
                <a:solidFill>
                  <a:srgbClr val="475569"/>
                </a:solidFill>
                <a:latin typeface="Arial"/>
              </a:defRPr>
            </a:pPr>
            <a:r>
              <a:rPr>
                <a:latin typeface="Arial"/>
              </a:rPr>
              <a:t>• neutral: 0.66</a:t>
            </a:r>
          </a:p>
          <a:p>
            <a:pPr lvl="1">
              <a:defRPr sz="1500">
                <a:solidFill>
                  <a:srgbClr val="475569"/>
                </a:solidFill>
                <a:latin typeface="Arial"/>
              </a:defRPr>
            </a:pPr>
            <a:r>
              <a:rPr>
                <a:latin typeface="Arial"/>
              </a:rPr>
              <a:t>• positive: 0.85</a:t>
            </a:r>
          </a:p>
          <a:p>
            <a:pPr>
              <a:defRPr sz="1700">
                <a:solidFill>
                  <a:srgbClr val="0F172A"/>
                </a:solidFill>
                <a:latin typeface="Arial"/>
              </a:defRPr>
            </a:pPr>
            <a:r>
              <a:rPr>
                <a:latin typeface="Arial"/>
              </a:rPr>
              <a:t>• Lớp khó nhất là neutral vì nhiều bình luận nằm giữa khen nhẹ, chê nhẹ hoặc chỉ nhận xu.</a:t>
            </a:r>
          </a:p>
        </p:txBody>
      </p:sp>
      <p:pic>
        <p:nvPicPr>
          <p:cNvPr id="16" name="Picture 15" descr="confusion_matrix_sentiment.png"/>
          <p:cNvPicPr>
            <a:picLocks noChangeAspect="1"/>
          </p:cNvPicPr>
          <p:nvPr/>
        </p:nvPicPr>
        <p:blipFill>
          <a:blip r:embed="rId2"/>
          <a:stretch>
            <a:fillRect/>
          </a:stretch>
        </p:blipFill>
        <p:spPr>
          <a:xfrm>
            <a:off x="6400800" y="2197018"/>
            <a:ext cx="5257800" cy="375557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sz="2800" b="1">
                <a:solidFill>
                  <a:srgbClr val="142A41"/>
                </a:solidFill>
                <a:latin typeface="Arial"/>
              </a:rPr>
              <a:t>Issue Results</a:t>
            </a: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11/15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Rounded Rectangle 5"/>
          <p:cNvSpPr/>
          <p:nvPr/>
        </p:nvSpPr>
        <p:spPr>
          <a:xfrm>
            <a:off x="685800" y="1143000"/>
            <a:ext cx="2011680" cy="9144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280160"/>
            <a:ext cx="1737360" cy="201168"/>
          </a:xfrm>
          <a:prstGeom prst="rect">
            <a:avLst/>
          </a:prstGeom>
          <a:noFill/>
        </p:spPr>
        <p:txBody>
          <a:bodyPr wrap="square">
            <a:normAutofit fontScale="92500" lnSpcReduction="20000"/>
          </a:bodyPr>
          <a:lstStyle/>
          <a:p>
            <a:pPr algn="l"/>
            <a:r>
              <a:rPr sz="1000" b="1">
                <a:solidFill>
                  <a:srgbClr val="475569"/>
                </a:solidFill>
                <a:latin typeface="Arial"/>
              </a:rPr>
              <a:t>Accuracy</a:t>
            </a:r>
          </a:p>
        </p:txBody>
      </p:sp>
      <p:sp>
        <p:nvSpPr>
          <p:cNvPr id="8" name="TextBox 7"/>
          <p:cNvSpPr txBox="1"/>
          <p:nvPr/>
        </p:nvSpPr>
        <p:spPr>
          <a:xfrm>
            <a:off x="822960" y="1527048"/>
            <a:ext cx="1737360" cy="347472"/>
          </a:xfrm>
          <a:prstGeom prst="rect">
            <a:avLst/>
          </a:prstGeom>
          <a:noFill/>
        </p:spPr>
        <p:txBody>
          <a:bodyPr wrap="square">
            <a:normAutofit fontScale="85000" lnSpcReduction="20000"/>
          </a:bodyPr>
          <a:lstStyle/>
          <a:p>
            <a:pPr algn="l"/>
            <a:r>
              <a:rPr sz="2400" b="1">
                <a:solidFill>
                  <a:srgbClr val="2563EB"/>
                </a:solidFill>
                <a:latin typeface="Arial"/>
              </a:rPr>
              <a:t>0.7849</a:t>
            </a:r>
          </a:p>
        </p:txBody>
      </p:sp>
      <p:sp>
        <p:nvSpPr>
          <p:cNvPr id="9" name="Rounded Rectangle 8"/>
          <p:cNvSpPr/>
          <p:nvPr/>
        </p:nvSpPr>
        <p:spPr>
          <a:xfrm>
            <a:off x="2880360" y="1143000"/>
            <a:ext cx="2011680" cy="9144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17520" y="1280160"/>
            <a:ext cx="1737360" cy="201168"/>
          </a:xfrm>
          <a:prstGeom prst="rect">
            <a:avLst/>
          </a:prstGeom>
          <a:noFill/>
        </p:spPr>
        <p:txBody>
          <a:bodyPr wrap="square">
            <a:normAutofit fontScale="92500" lnSpcReduction="20000"/>
          </a:bodyPr>
          <a:lstStyle/>
          <a:p>
            <a:pPr algn="l"/>
            <a:r>
              <a:rPr sz="1000" b="1">
                <a:solidFill>
                  <a:srgbClr val="475569"/>
                </a:solidFill>
                <a:latin typeface="Arial"/>
              </a:rPr>
              <a:t>Macro F1</a:t>
            </a:r>
          </a:p>
        </p:txBody>
      </p:sp>
      <p:sp>
        <p:nvSpPr>
          <p:cNvPr id="11" name="TextBox 10"/>
          <p:cNvSpPr txBox="1"/>
          <p:nvPr/>
        </p:nvSpPr>
        <p:spPr>
          <a:xfrm>
            <a:off x="3017520" y="1527048"/>
            <a:ext cx="1737360" cy="347472"/>
          </a:xfrm>
          <a:prstGeom prst="rect">
            <a:avLst/>
          </a:prstGeom>
          <a:noFill/>
        </p:spPr>
        <p:txBody>
          <a:bodyPr wrap="square">
            <a:normAutofit fontScale="85000" lnSpcReduction="20000"/>
          </a:bodyPr>
          <a:lstStyle/>
          <a:p>
            <a:pPr algn="l"/>
            <a:r>
              <a:rPr sz="2400" b="1">
                <a:solidFill>
                  <a:srgbClr val="0F766E"/>
                </a:solidFill>
                <a:latin typeface="Arial"/>
              </a:rPr>
              <a:t>0.7323</a:t>
            </a:r>
          </a:p>
        </p:txBody>
      </p:sp>
      <p:sp>
        <p:nvSpPr>
          <p:cNvPr id="12" name="Rounded Rectangle 11"/>
          <p:cNvSpPr/>
          <p:nvPr/>
        </p:nvSpPr>
        <p:spPr>
          <a:xfrm>
            <a:off x="5074920" y="1143000"/>
            <a:ext cx="2011680" cy="9144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12080" y="1280160"/>
            <a:ext cx="1737360" cy="201168"/>
          </a:xfrm>
          <a:prstGeom prst="rect">
            <a:avLst/>
          </a:prstGeom>
          <a:noFill/>
        </p:spPr>
        <p:txBody>
          <a:bodyPr wrap="square">
            <a:normAutofit fontScale="92500" lnSpcReduction="20000"/>
          </a:bodyPr>
          <a:lstStyle/>
          <a:p>
            <a:pPr algn="l"/>
            <a:r>
              <a:rPr sz="1000" b="1">
                <a:solidFill>
                  <a:srgbClr val="475569"/>
                </a:solidFill>
                <a:latin typeface="Arial"/>
              </a:rPr>
              <a:t>Issue labels</a:t>
            </a:r>
          </a:p>
        </p:txBody>
      </p:sp>
      <p:sp>
        <p:nvSpPr>
          <p:cNvPr id="14" name="TextBox 13"/>
          <p:cNvSpPr txBox="1"/>
          <p:nvPr/>
        </p:nvSpPr>
        <p:spPr>
          <a:xfrm>
            <a:off x="5212080" y="1527048"/>
            <a:ext cx="1737360" cy="347472"/>
          </a:xfrm>
          <a:prstGeom prst="rect">
            <a:avLst/>
          </a:prstGeom>
          <a:noFill/>
        </p:spPr>
        <p:txBody>
          <a:bodyPr wrap="square">
            <a:normAutofit fontScale="85000" lnSpcReduction="20000"/>
          </a:bodyPr>
          <a:lstStyle/>
          <a:p>
            <a:pPr algn="l"/>
            <a:r>
              <a:rPr sz="2400" b="1">
                <a:solidFill>
                  <a:srgbClr val="D97706"/>
                </a:solidFill>
                <a:latin typeface="Arial"/>
              </a:rPr>
              <a:t>9</a:t>
            </a:r>
          </a:p>
        </p:txBody>
      </p:sp>
      <p:sp>
        <p:nvSpPr>
          <p:cNvPr id="15" name="TextBox 14"/>
          <p:cNvSpPr txBox="1"/>
          <p:nvPr/>
        </p:nvSpPr>
        <p:spPr>
          <a:xfrm>
            <a:off x="777240" y="2423160"/>
            <a:ext cx="4480560" cy="3291840"/>
          </a:xfrm>
          <a:prstGeom prst="rect">
            <a:avLst/>
          </a:prstGeom>
          <a:noFill/>
        </p:spPr>
        <p:txBody>
          <a:bodyPr wrap="square">
            <a:normAutofit/>
          </a:bodyPr>
          <a:lstStyle/>
          <a:p>
            <a:pPr>
              <a:defRPr sz="1600">
                <a:solidFill>
                  <a:srgbClr val="0F172A"/>
                </a:solidFill>
                <a:latin typeface="Arial"/>
              </a:defRPr>
            </a:pPr>
            <a:r>
              <a:rPr dirty="0">
                <a:latin typeface="Arial"/>
              </a:rPr>
              <a:t>• </a:t>
            </a:r>
            <a:r>
              <a:rPr dirty="0" err="1">
                <a:latin typeface="Arial"/>
              </a:rPr>
              <a:t>Nhóm</a:t>
            </a:r>
            <a:r>
              <a:rPr dirty="0">
                <a:latin typeface="Arial"/>
              </a:rPr>
              <a:t> </a:t>
            </a:r>
            <a:r>
              <a:rPr dirty="0" err="1">
                <a:latin typeface="Arial"/>
              </a:rPr>
              <a:t>có</a:t>
            </a:r>
            <a:r>
              <a:rPr dirty="0">
                <a:latin typeface="Arial"/>
              </a:rPr>
              <a:t> F1 </a:t>
            </a:r>
            <a:r>
              <a:rPr dirty="0" err="1">
                <a:latin typeface="Arial"/>
              </a:rPr>
              <a:t>tốt</a:t>
            </a:r>
            <a:r>
              <a:rPr dirty="0">
                <a:latin typeface="Arial"/>
              </a:rPr>
              <a:t>:</a:t>
            </a:r>
          </a:p>
          <a:p>
            <a:pPr lvl="1">
              <a:defRPr sz="1400">
                <a:solidFill>
                  <a:srgbClr val="475569"/>
                </a:solidFill>
                <a:latin typeface="Arial"/>
              </a:defRPr>
            </a:pPr>
            <a:r>
              <a:rPr dirty="0">
                <a:latin typeface="Arial"/>
              </a:rPr>
              <a:t>• </a:t>
            </a:r>
            <a:r>
              <a:rPr dirty="0" err="1">
                <a:latin typeface="Arial"/>
              </a:rPr>
              <a:t>no_issue</a:t>
            </a:r>
            <a:r>
              <a:rPr dirty="0">
                <a:latin typeface="Arial"/>
              </a:rPr>
              <a:t>: 0.86</a:t>
            </a:r>
          </a:p>
          <a:p>
            <a:pPr lvl="1">
              <a:defRPr sz="1400">
                <a:solidFill>
                  <a:srgbClr val="475569"/>
                </a:solidFill>
                <a:latin typeface="Arial"/>
              </a:defRPr>
            </a:pPr>
            <a:r>
              <a:rPr dirty="0">
                <a:latin typeface="Arial"/>
              </a:rPr>
              <a:t>• </a:t>
            </a:r>
            <a:r>
              <a:rPr dirty="0" err="1">
                <a:latin typeface="Arial"/>
              </a:rPr>
              <a:t>product_quality</a:t>
            </a:r>
            <a:r>
              <a:rPr dirty="0">
                <a:latin typeface="Arial"/>
              </a:rPr>
              <a:t>: 0.80</a:t>
            </a:r>
          </a:p>
          <a:p>
            <a:pPr lvl="1">
              <a:defRPr sz="1400">
                <a:solidFill>
                  <a:srgbClr val="475569"/>
                </a:solidFill>
                <a:latin typeface="Arial"/>
              </a:defRPr>
            </a:pPr>
            <a:r>
              <a:rPr dirty="0">
                <a:latin typeface="Arial"/>
              </a:rPr>
              <a:t>• </a:t>
            </a:r>
            <a:r>
              <a:rPr dirty="0" err="1">
                <a:latin typeface="Arial"/>
              </a:rPr>
              <a:t>seller_service</a:t>
            </a:r>
            <a:r>
              <a:rPr dirty="0">
                <a:latin typeface="Arial"/>
              </a:rPr>
              <a:t>: 0.81</a:t>
            </a:r>
          </a:p>
          <a:p>
            <a:pPr lvl="1">
              <a:defRPr sz="1400">
                <a:solidFill>
                  <a:srgbClr val="475569"/>
                </a:solidFill>
                <a:latin typeface="Arial"/>
              </a:defRPr>
            </a:pPr>
            <a:r>
              <a:rPr dirty="0">
                <a:latin typeface="Arial"/>
              </a:rPr>
              <a:t>• </a:t>
            </a:r>
            <a:r>
              <a:rPr dirty="0" err="1">
                <a:latin typeface="Arial"/>
              </a:rPr>
              <a:t>wrong_missing_item</a:t>
            </a:r>
            <a:r>
              <a:rPr dirty="0">
                <a:latin typeface="Arial"/>
              </a:rPr>
              <a:t>: 0.79</a:t>
            </a:r>
          </a:p>
          <a:p>
            <a:pPr>
              <a:defRPr sz="1600">
                <a:solidFill>
                  <a:srgbClr val="0F172A"/>
                </a:solidFill>
                <a:latin typeface="Arial"/>
              </a:defRPr>
            </a:pPr>
            <a:r>
              <a:rPr dirty="0">
                <a:latin typeface="Arial"/>
              </a:rPr>
              <a:t>• </a:t>
            </a:r>
            <a:r>
              <a:rPr dirty="0" err="1">
                <a:latin typeface="Arial"/>
              </a:rPr>
              <a:t>Nhóm</a:t>
            </a:r>
            <a:r>
              <a:rPr dirty="0">
                <a:latin typeface="Arial"/>
              </a:rPr>
              <a:t> </a:t>
            </a:r>
            <a:r>
              <a:rPr dirty="0" err="1">
                <a:latin typeface="Arial"/>
              </a:rPr>
              <a:t>còn</a:t>
            </a:r>
            <a:r>
              <a:rPr dirty="0">
                <a:latin typeface="Arial"/>
              </a:rPr>
              <a:t> </a:t>
            </a:r>
            <a:r>
              <a:rPr lang="en-US" dirty="0" err="1">
                <a:latin typeface="Arial"/>
              </a:rPr>
              <a:t>yếu</a:t>
            </a:r>
            <a:r>
              <a:rPr dirty="0">
                <a:latin typeface="Arial"/>
              </a:rPr>
              <a:t>:</a:t>
            </a:r>
          </a:p>
          <a:p>
            <a:pPr lvl="1">
              <a:defRPr sz="1400">
                <a:solidFill>
                  <a:srgbClr val="475569"/>
                </a:solidFill>
                <a:latin typeface="Arial"/>
              </a:defRPr>
            </a:pPr>
            <a:r>
              <a:rPr dirty="0">
                <a:latin typeface="Arial"/>
              </a:rPr>
              <a:t>• </a:t>
            </a:r>
            <a:r>
              <a:rPr dirty="0" err="1">
                <a:latin typeface="Arial"/>
              </a:rPr>
              <a:t>product_attribute</a:t>
            </a:r>
            <a:r>
              <a:rPr dirty="0">
                <a:latin typeface="Arial"/>
              </a:rPr>
              <a:t>: 0.59</a:t>
            </a:r>
          </a:p>
          <a:p>
            <a:pPr lvl="1">
              <a:defRPr sz="1400">
                <a:solidFill>
                  <a:srgbClr val="475569"/>
                </a:solidFill>
                <a:latin typeface="Arial"/>
              </a:defRPr>
            </a:pPr>
            <a:r>
              <a:rPr dirty="0">
                <a:latin typeface="Arial"/>
              </a:rPr>
              <a:t>• </a:t>
            </a:r>
            <a:r>
              <a:rPr dirty="0" err="1">
                <a:latin typeface="Arial"/>
              </a:rPr>
              <a:t>spam_irrelevant</a:t>
            </a:r>
            <a:r>
              <a:rPr dirty="0">
                <a:latin typeface="Arial"/>
              </a:rPr>
              <a:t>: 0.60</a:t>
            </a:r>
          </a:p>
          <a:p>
            <a:pPr lvl="1">
              <a:defRPr sz="1400">
                <a:solidFill>
                  <a:srgbClr val="475569"/>
                </a:solidFill>
                <a:latin typeface="Arial"/>
              </a:defRPr>
            </a:pPr>
            <a:r>
              <a:rPr dirty="0">
                <a:latin typeface="Arial"/>
              </a:rPr>
              <a:t>• </a:t>
            </a:r>
            <a:r>
              <a:rPr dirty="0" err="1">
                <a:latin typeface="Arial"/>
              </a:rPr>
              <a:t>price_value</a:t>
            </a:r>
            <a:r>
              <a:rPr dirty="0">
                <a:latin typeface="Arial"/>
              </a:rPr>
              <a:t>: </a:t>
            </a:r>
            <a:r>
              <a:rPr dirty="0" err="1">
                <a:latin typeface="Arial"/>
              </a:rPr>
              <a:t>ít</a:t>
            </a:r>
            <a:r>
              <a:rPr dirty="0">
                <a:latin typeface="Arial"/>
              </a:rPr>
              <a:t> </a:t>
            </a:r>
            <a:r>
              <a:rPr dirty="0" err="1">
                <a:latin typeface="Arial"/>
              </a:rPr>
              <a:t>mẫu</a:t>
            </a:r>
            <a:r>
              <a:rPr dirty="0">
                <a:latin typeface="Arial"/>
              </a:rPr>
              <a:t>, F1 0.67</a:t>
            </a:r>
          </a:p>
        </p:txBody>
      </p:sp>
      <p:pic>
        <p:nvPicPr>
          <p:cNvPr id="16" name="Picture 15" descr="confusion_matrix_issue.png"/>
          <p:cNvPicPr>
            <a:picLocks noChangeAspect="1"/>
          </p:cNvPicPr>
          <p:nvPr/>
        </p:nvPicPr>
        <p:blipFill>
          <a:blip r:embed="rId2"/>
          <a:stretch>
            <a:fillRect/>
          </a:stretch>
        </p:blipFill>
        <p:spPr>
          <a:xfrm>
            <a:off x="5654040" y="2113878"/>
            <a:ext cx="5760720" cy="474412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sz="2800" b="1">
                <a:solidFill>
                  <a:srgbClr val="142A41"/>
                </a:solidFill>
                <a:latin typeface="Arial"/>
              </a:rPr>
              <a:t>Error Analysis</a:t>
            </a: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12/15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Rounded Rectangle 5"/>
          <p:cNvSpPr/>
          <p:nvPr/>
        </p:nvSpPr>
        <p:spPr>
          <a:xfrm>
            <a:off x="685800" y="1143000"/>
            <a:ext cx="5303520" cy="48920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63640" y="1143000"/>
            <a:ext cx="5257800" cy="48920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417320"/>
            <a:ext cx="4754880" cy="4297680"/>
          </a:xfrm>
          <a:prstGeom prst="rect">
            <a:avLst/>
          </a:prstGeom>
          <a:noFill/>
        </p:spPr>
        <p:txBody>
          <a:bodyPr wrap="square">
            <a:normAutofit/>
          </a:bodyPr>
          <a:lstStyle/>
          <a:p>
            <a:pPr>
              <a:defRPr sz="1700">
                <a:solidFill>
                  <a:srgbClr val="0F172A"/>
                </a:solidFill>
                <a:latin typeface="Arial"/>
              </a:defRPr>
            </a:pPr>
            <a:r>
              <a:rPr dirty="0">
                <a:latin typeface="Arial"/>
              </a:rPr>
              <a:t>• Sentiment:</a:t>
            </a:r>
          </a:p>
          <a:p>
            <a:pPr lvl="1">
              <a:defRPr sz="1500">
                <a:solidFill>
                  <a:srgbClr val="475569"/>
                </a:solidFill>
                <a:latin typeface="Arial"/>
              </a:defRPr>
            </a:pPr>
            <a:r>
              <a:rPr dirty="0">
                <a:latin typeface="Arial"/>
              </a:rPr>
              <a:t>• neutral </a:t>
            </a:r>
            <a:r>
              <a:rPr dirty="0" err="1">
                <a:latin typeface="Arial"/>
              </a:rPr>
              <a:t>thường</a:t>
            </a:r>
            <a:r>
              <a:rPr dirty="0">
                <a:latin typeface="Arial"/>
              </a:rPr>
              <a:t> </a:t>
            </a:r>
            <a:r>
              <a:rPr dirty="0" err="1">
                <a:latin typeface="Arial"/>
              </a:rPr>
              <a:t>bị</a:t>
            </a:r>
            <a:r>
              <a:rPr dirty="0">
                <a:latin typeface="Arial"/>
              </a:rPr>
              <a:t> </a:t>
            </a:r>
            <a:r>
              <a:rPr dirty="0" err="1">
                <a:latin typeface="Arial"/>
              </a:rPr>
              <a:t>dự</a:t>
            </a:r>
            <a:r>
              <a:rPr dirty="0">
                <a:latin typeface="Arial"/>
              </a:rPr>
              <a:t> </a:t>
            </a:r>
            <a:r>
              <a:rPr dirty="0" err="1">
                <a:latin typeface="Arial"/>
              </a:rPr>
              <a:t>đoán</a:t>
            </a:r>
            <a:r>
              <a:rPr dirty="0">
                <a:latin typeface="Arial"/>
              </a:rPr>
              <a:t> </a:t>
            </a:r>
            <a:r>
              <a:rPr dirty="0" err="1">
                <a:latin typeface="Arial"/>
              </a:rPr>
              <a:t>thành</a:t>
            </a:r>
            <a:r>
              <a:rPr dirty="0">
                <a:latin typeface="Arial"/>
              </a:rPr>
              <a:t> negative.</a:t>
            </a:r>
          </a:p>
          <a:p>
            <a:pPr lvl="1">
              <a:defRPr sz="1500">
                <a:solidFill>
                  <a:srgbClr val="475569"/>
                </a:solidFill>
                <a:latin typeface="Arial"/>
              </a:defRPr>
            </a:pPr>
            <a:r>
              <a:rPr dirty="0">
                <a:latin typeface="Arial"/>
              </a:rPr>
              <a:t>• </a:t>
            </a:r>
            <a:r>
              <a:rPr dirty="0" err="1">
                <a:latin typeface="Arial"/>
              </a:rPr>
              <a:t>Một</a:t>
            </a:r>
            <a:r>
              <a:rPr dirty="0">
                <a:latin typeface="Arial"/>
              </a:rPr>
              <a:t> </a:t>
            </a:r>
            <a:r>
              <a:rPr dirty="0" err="1">
                <a:latin typeface="Arial"/>
              </a:rPr>
              <a:t>số</a:t>
            </a:r>
            <a:r>
              <a:rPr dirty="0">
                <a:latin typeface="Arial"/>
              </a:rPr>
              <a:t> positive </a:t>
            </a:r>
            <a:r>
              <a:rPr dirty="0" err="1">
                <a:latin typeface="Arial"/>
              </a:rPr>
              <a:t>bị</a:t>
            </a:r>
            <a:r>
              <a:rPr dirty="0">
                <a:latin typeface="Arial"/>
              </a:rPr>
              <a:t> </a:t>
            </a:r>
            <a:r>
              <a:rPr dirty="0" err="1">
                <a:latin typeface="Arial"/>
              </a:rPr>
              <a:t>dự</a:t>
            </a:r>
            <a:r>
              <a:rPr dirty="0">
                <a:latin typeface="Arial"/>
              </a:rPr>
              <a:t> </a:t>
            </a:r>
            <a:r>
              <a:rPr dirty="0" err="1">
                <a:latin typeface="Arial"/>
              </a:rPr>
              <a:t>đoán</a:t>
            </a:r>
            <a:r>
              <a:rPr dirty="0">
                <a:latin typeface="Arial"/>
              </a:rPr>
              <a:t> </a:t>
            </a:r>
            <a:r>
              <a:rPr dirty="0" err="1">
                <a:latin typeface="Arial"/>
              </a:rPr>
              <a:t>thành</a:t>
            </a:r>
            <a:r>
              <a:rPr dirty="0">
                <a:latin typeface="Arial"/>
              </a:rPr>
              <a:t> neutral.</a:t>
            </a:r>
          </a:p>
          <a:p>
            <a:pPr>
              <a:defRPr sz="1700">
                <a:solidFill>
                  <a:srgbClr val="0F172A"/>
                </a:solidFill>
                <a:latin typeface="Arial"/>
              </a:defRPr>
            </a:pPr>
            <a:r>
              <a:rPr dirty="0">
                <a:latin typeface="Arial"/>
              </a:rPr>
              <a:t>• Issue:</a:t>
            </a:r>
          </a:p>
          <a:p>
            <a:pPr lvl="1">
              <a:defRPr sz="1500">
                <a:solidFill>
                  <a:srgbClr val="475569"/>
                </a:solidFill>
                <a:latin typeface="Arial"/>
              </a:defRPr>
            </a:pPr>
            <a:r>
              <a:rPr dirty="0">
                <a:latin typeface="Arial"/>
              </a:rPr>
              <a:t>• </a:t>
            </a:r>
            <a:r>
              <a:rPr dirty="0" err="1">
                <a:latin typeface="Arial"/>
              </a:rPr>
              <a:t>product_quality</a:t>
            </a:r>
            <a:r>
              <a:rPr dirty="0">
                <a:latin typeface="Arial"/>
              </a:rPr>
              <a:t> </a:t>
            </a:r>
            <a:r>
              <a:rPr dirty="0" err="1">
                <a:latin typeface="Arial"/>
              </a:rPr>
              <a:t>và</a:t>
            </a:r>
            <a:r>
              <a:rPr dirty="0">
                <a:latin typeface="Arial"/>
              </a:rPr>
              <a:t> </a:t>
            </a:r>
            <a:r>
              <a:rPr dirty="0" err="1">
                <a:latin typeface="Arial"/>
              </a:rPr>
              <a:t>product_attribute</a:t>
            </a:r>
            <a:r>
              <a:rPr dirty="0">
                <a:latin typeface="Arial"/>
              </a:rPr>
              <a:t> </a:t>
            </a:r>
            <a:r>
              <a:rPr dirty="0" err="1">
                <a:latin typeface="Arial"/>
              </a:rPr>
              <a:t>dễ</a:t>
            </a:r>
            <a:r>
              <a:rPr dirty="0">
                <a:latin typeface="Arial"/>
              </a:rPr>
              <a:t> </a:t>
            </a:r>
            <a:r>
              <a:rPr dirty="0" err="1">
                <a:latin typeface="Arial"/>
              </a:rPr>
              <a:t>nhầm</a:t>
            </a:r>
            <a:r>
              <a:rPr dirty="0">
                <a:latin typeface="Arial"/>
              </a:rPr>
              <a:t> </a:t>
            </a:r>
            <a:r>
              <a:rPr dirty="0" err="1">
                <a:latin typeface="Arial"/>
              </a:rPr>
              <a:t>với</a:t>
            </a:r>
            <a:r>
              <a:rPr dirty="0">
                <a:latin typeface="Arial"/>
              </a:rPr>
              <a:t> </a:t>
            </a:r>
            <a:r>
              <a:rPr dirty="0" err="1">
                <a:latin typeface="Arial"/>
              </a:rPr>
              <a:t>nhau</a:t>
            </a:r>
            <a:r>
              <a:rPr dirty="0">
                <a:latin typeface="Arial"/>
              </a:rPr>
              <a:t>.</a:t>
            </a:r>
          </a:p>
          <a:p>
            <a:pPr lvl="1">
              <a:defRPr sz="1500">
                <a:solidFill>
                  <a:srgbClr val="475569"/>
                </a:solidFill>
                <a:latin typeface="Arial"/>
              </a:defRPr>
            </a:pPr>
            <a:r>
              <a:rPr dirty="0">
                <a:latin typeface="Arial"/>
              </a:rPr>
              <a:t>• </a:t>
            </a:r>
            <a:r>
              <a:rPr dirty="0" err="1">
                <a:latin typeface="Arial"/>
              </a:rPr>
              <a:t>Một</a:t>
            </a:r>
            <a:r>
              <a:rPr dirty="0">
                <a:latin typeface="Arial"/>
              </a:rPr>
              <a:t> </a:t>
            </a:r>
            <a:r>
              <a:rPr dirty="0" err="1">
                <a:latin typeface="Arial"/>
              </a:rPr>
              <a:t>số</a:t>
            </a:r>
            <a:r>
              <a:rPr dirty="0">
                <a:latin typeface="Arial"/>
              </a:rPr>
              <a:t> </a:t>
            </a:r>
            <a:r>
              <a:rPr dirty="0" err="1">
                <a:latin typeface="Arial"/>
              </a:rPr>
              <a:t>no_issue</a:t>
            </a:r>
            <a:r>
              <a:rPr dirty="0">
                <a:latin typeface="Arial"/>
              </a:rPr>
              <a:t> </a:t>
            </a:r>
            <a:r>
              <a:rPr dirty="0" err="1">
                <a:latin typeface="Arial"/>
              </a:rPr>
              <a:t>bị</a:t>
            </a:r>
            <a:r>
              <a:rPr dirty="0">
                <a:latin typeface="Arial"/>
              </a:rPr>
              <a:t> </a:t>
            </a:r>
            <a:r>
              <a:rPr dirty="0" err="1">
                <a:latin typeface="Arial"/>
              </a:rPr>
              <a:t>nhầm</a:t>
            </a:r>
            <a:r>
              <a:rPr dirty="0">
                <a:latin typeface="Arial"/>
              </a:rPr>
              <a:t> sang issue </a:t>
            </a:r>
            <a:r>
              <a:rPr dirty="0" err="1">
                <a:latin typeface="Arial"/>
              </a:rPr>
              <a:t>liên</a:t>
            </a:r>
            <a:r>
              <a:rPr dirty="0">
                <a:latin typeface="Arial"/>
              </a:rPr>
              <a:t> </a:t>
            </a:r>
            <a:r>
              <a:rPr dirty="0" err="1">
                <a:latin typeface="Arial"/>
              </a:rPr>
              <a:t>quan</a:t>
            </a:r>
            <a:r>
              <a:rPr dirty="0">
                <a:latin typeface="Arial"/>
              </a:rPr>
              <a:t> </a:t>
            </a:r>
            <a:r>
              <a:rPr dirty="0" err="1">
                <a:latin typeface="Arial"/>
              </a:rPr>
              <a:t>đến</a:t>
            </a:r>
            <a:r>
              <a:rPr dirty="0">
                <a:latin typeface="Arial"/>
              </a:rPr>
              <a:t> </a:t>
            </a:r>
            <a:r>
              <a:rPr dirty="0" err="1">
                <a:latin typeface="Arial"/>
              </a:rPr>
              <a:t>sản</a:t>
            </a:r>
            <a:r>
              <a:rPr dirty="0">
                <a:latin typeface="Arial"/>
              </a:rPr>
              <a:t> </a:t>
            </a:r>
            <a:r>
              <a:rPr dirty="0" err="1">
                <a:latin typeface="Arial"/>
              </a:rPr>
              <a:t>phẩm</a:t>
            </a:r>
            <a:r>
              <a:rPr dirty="0">
                <a:latin typeface="Arial"/>
              </a:rPr>
              <a:t>.</a:t>
            </a:r>
          </a:p>
        </p:txBody>
      </p:sp>
      <p:sp>
        <p:nvSpPr>
          <p:cNvPr id="9" name="TextBox 8"/>
          <p:cNvSpPr txBox="1"/>
          <p:nvPr/>
        </p:nvSpPr>
        <p:spPr>
          <a:xfrm>
            <a:off x="6537960" y="1417320"/>
            <a:ext cx="4663440" cy="4297680"/>
          </a:xfrm>
          <a:prstGeom prst="rect">
            <a:avLst/>
          </a:prstGeom>
          <a:noFill/>
        </p:spPr>
        <p:txBody>
          <a:bodyPr wrap="square">
            <a:normAutofit/>
          </a:bodyPr>
          <a:lstStyle/>
          <a:p>
            <a:pPr>
              <a:defRPr sz="1700">
                <a:solidFill>
                  <a:srgbClr val="0F172A"/>
                </a:solidFill>
                <a:latin typeface="Arial"/>
              </a:defRPr>
            </a:pPr>
            <a:r>
              <a:rPr>
                <a:latin typeface="Arial"/>
              </a:rPr>
              <a:t>• Nguyên nhân:</a:t>
            </a:r>
          </a:p>
          <a:p>
            <a:pPr lvl="1">
              <a:defRPr sz="1500">
                <a:solidFill>
                  <a:srgbClr val="475569"/>
                </a:solidFill>
                <a:latin typeface="Arial"/>
              </a:defRPr>
            </a:pPr>
            <a:r>
              <a:rPr>
                <a:latin typeface="Arial"/>
              </a:rPr>
              <a:t>• Review ngắn và thiếu ngữ cảnh.</a:t>
            </a:r>
          </a:p>
          <a:p>
            <a:pPr lvl="1">
              <a:defRPr sz="1500">
                <a:solidFill>
                  <a:srgbClr val="475569"/>
                </a:solidFill>
                <a:latin typeface="Arial"/>
              </a:defRPr>
            </a:pPr>
            <a:r>
              <a:rPr>
                <a:latin typeface="Arial"/>
              </a:rPr>
              <a:t>• Cách viết informal, nhiều biến thể.</a:t>
            </a:r>
          </a:p>
          <a:p>
            <a:pPr lvl="1">
              <a:defRPr sz="1500">
                <a:solidFill>
                  <a:srgbClr val="475569"/>
                </a:solidFill>
                <a:latin typeface="Arial"/>
              </a:defRPr>
            </a:pPr>
            <a:r>
              <a:rPr>
                <a:latin typeface="Arial"/>
              </a:rPr>
              <a:t>• Một review có thể chứa nhiều vấn đề.</a:t>
            </a:r>
          </a:p>
          <a:p>
            <a:pPr lvl="1">
              <a:defRPr sz="1500">
                <a:solidFill>
                  <a:srgbClr val="475569"/>
                </a:solidFill>
                <a:latin typeface="Arial"/>
              </a:defRPr>
            </a:pPr>
            <a:r>
              <a:rPr>
                <a:latin typeface="Arial"/>
              </a:rPr>
              <a:t>• Bài toán issue hiện là single-label nên chỉ chọn một issue chính.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lang="en-US" sz="2800" b="1" dirty="0" err="1">
                <a:solidFill>
                  <a:srgbClr val="142A41"/>
                </a:solidFill>
                <a:latin typeface="Arial"/>
              </a:rPr>
              <a:t>Nhận</a:t>
            </a:r>
            <a:r>
              <a:rPr lang="en-US" sz="2800" b="1" dirty="0">
                <a:solidFill>
                  <a:srgbClr val="142A41"/>
                </a:solidFill>
                <a:latin typeface="Arial"/>
              </a:rPr>
              <a:t> </a:t>
            </a:r>
            <a:r>
              <a:rPr lang="en-US" sz="2800" b="1" dirty="0" err="1">
                <a:solidFill>
                  <a:srgbClr val="142A41"/>
                </a:solidFill>
                <a:latin typeface="Arial"/>
              </a:rPr>
              <a:t>xét</a:t>
            </a:r>
            <a:r>
              <a:rPr lang="en-US" sz="2800" b="1" dirty="0">
                <a:solidFill>
                  <a:srgbClr val="142A41"/>
                </a:solidFill>
                <a:latin typeface="Arial"/>
              </a:rPr>
              <a:t> 2 models</a:t>
            </a:r>
            <a:endParaRPr sz="2800" b="1" dirty="0">
              <a:solidFill>
                <a:srgbClr val="142A41"/>
              </a:solidFill>
              <a:latin typeface="Arial"/>
            </a:endParaRP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14/15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7" name="TextBox 6"/>
          <p:cNvSpPr txBox="1"/>
          <p:nvPr/>
        </p:nvSpPr>
        <p:spPr>
          <a:xfrm>
            <a:off x="1051560" y="1444752"/>
            <a:ext cx="685800" cy="274320"/>
          </a:xfrm>
          <a:prstGeom prst="rect">
            <a:avLst/>
          </a:prstGeom>
          <a:noFill/>
        </p:spPr>
        <p:txBody>
          <a:bodyPr wrap="square">
            <a:normAutofit fontScale="92500" lnSpcReduction="10000"/>
          </a:bodyPr>
          <a:lstStyle/>
          <a:p>
            <a:pPr algn="l"/>
            <a:endParaRPr sz="1400" b="1" dirty="0">
              <a:solidFill>
                <a:srgbClr val="2563EB"/>
              </a:solidFill>
              <a:latin typeface="Arial"/>
            </a:endParaRPr>
          </a:p>
        </p:txBody>
      </p:sp>
      <p:sp>
        <p:nvSpPr>
          <p:cNvPr id="10" name="TextBox 9"/>
          <p:cNvSpPr txBox="1"/>
          <p:nvPr/>
        </p:nvSpPr>
        <p:spPr>
          <a:xfrm>
            <a:off x="1325880" y="5486400"/>
            <a:ext cx="9509760" cy="320040"/>
          </a:xfrm>
          <a:prstGeom prst="rect">
            <a:avLst/>
          </a:prstGeom>
          <a:noFill/>
        </p:spPr>
        <p:txBody>
          <a:bodyPr wrap="square">
            <a:normAutofit/>
          </a:bodyPr>
          <a:lstStyle/>
          <a:p>
            <a:pPr algn="ctr"/>
            <a:endParaRPr sz="1500" b="0" dirty="0">
              <a:solidFill>
                <a:srgbClr val="475569"/>
              </a:solidFill>
              <a:latin typeface="Arial"/>
            </a:endParaRPr>
          </a:p>
        </p:txBody>
      </p:sp>
      <p:sp>
        <p:nvSpPr>
          <p:cNvPr id="11" name="TextBox 10">
            <a:extLst>
              <a:ext uri="{FF2B5EF4-FFF2-40B4-BE49-F238E27FC236}">
                <a16:creationId xmlns:a16="http://schemas.microsoft.com/office/drawing/2014/main" id="{36C59F95-1DB0-EDBB-594D-0372870AD2B6}"/>
              </a:ext>
            </a:extLst>
          </p:cNvPr>
          <p:cNvSpPr txBox="1"/>
          <p:nvPr/>
        </p:nvSpPr>
        <p:spPr>
          <a:xfrm>
            <a:off x="747252" y="1153619"/>
            <a:ext cx="10393188" cy="3693319"/>
          </a:xfrm>
          <a:prstGeom prst="rect">
            <a:avLst/>
          </a:prstGeom>
          <a:noFill/>
        </p:spPr>
        <p:txBody>
          <a:bodyPr wrap="square" rtlCol="0">
            <a:spAutoFit/>
          </a:bodyPr>
          <a:lstStyle/>
          <a:p>
            <a:r>
              <a:rPr lang="vi-VN" dirty="0"/>
              <a:t>• Naive Bayes được dùng làm baseline vì đơn giản, dễ cài đặt và dễ giải thích bằng xác suất.</a:t>
            </a:r>
          </a:p>
          <a:p>
            <a:endParaRPr lang="vi-VN" dirty="0"/>
          </a:p>
          <a:p>
            <a:r>
              <a:rPr lang="vi-VN" dirty="0"/>
              <a:t>• Tuy nhiên, Naive Bayes giả định các từ độc lập với nhau, nên khó xử lý tốt các review có ngữ cảnh phức tạp hoặc nhiều cụm từ mang nghĩa kết hợp.</a:t>
            </a:r>
          </a:p>
          <a:p>
            <a:endParaRPr lang="vi-VN" dirty="0"/>
          </a:p>
          <a:p>
            <a:r>
              <a:rPr lang="vi-VN" dirty="0"/>
              <a:t>• Linear SVM hoạt động tốt hơn vì mô hình học trọng số cho từng feature TF-IDF và tìm biên phân tách giữa các lớp trong không gian vector.</a:t>
            </a:r>
          </a:p>
          <a:p>
            <a:endParaRPr lang="vi-VN" dirty="0"/>
          </a:p>
          <a:p>
            <a:r>
              <a:rPr lang="vi-VN" dirty="0"/>
              <a:t>• Với dữ liệu review Shopee, TF-IDF + Linear SVM phù hợp hơn do dữ liệu nhiều chiều, thưa và có nhiều từ/cụm từ đặc trưng cho từng lớp.</a:t>
            </a:r>
          </a:p>
          <a:p>
            <a:endParaRPr lang="vi-VN" dirty="0"/>
          </a:p>
          <a:p>
            <a:r>
              <a:rPr lang="vi-VN" dirty="0"/>
              <a:t>• Với issue classification, safe issue rules giúp sửa một số lỗi rõ ràng của model như giao chậm, thiếu hàng, giao sai hoặc đóng gói lỗi.</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sz="2800" b="1">
                <a:solidFill>
                  <a:srgbClr val="142A41"/>
                </a:solidFill>
                <a:latin typeface="Arial"/>
              </a:rPr>
              <a:t>Demo</a:t>
            </a: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14/15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Rounded Rectangle 5"/>
          <p:cNvSpPr/>
          <p:nvPr/>
        </p:nvSpPr>
        <p:spPr>
          <a:xfrm>
            <a:off x="777240" y="1234440"/>
            <a:ext cx="10698480" cy="960120"/>
          </a:xfrm>
          <a:prstGeom prst="roundRect">
            <a:avLst/>
          </a:prstGeom>
          <a:solidFill>
            <a:srgbClr val="EFF6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1444752"/>
            <a:ext cx="685800" cy="274320"/>
          </a:xfrm>
          <a:prstGeom prst="rect">
            <a:avLst/>
          </a:prstGeom>
          <a:noFill/>
        </p:spPr>
        <p:txBody>
          <a:bodyPr wrap="square">
            <a:normAutofit fontScale="92500" lnSpcReduction="10000"/>
          </a:bodyPr>
          <a:lstStyle/>
          <a:p>
            <a:pPr algn="l"/>
            <a:r>
              <a:rPr sz="1400" b="1">
                <a:solidFill>
                  <a:srgbClr val="2563EB"/>
                </a:solidFill>
                <a:latin typeface="Arial"/>
              </a:rPr>
              <a:t>Input</a:t>
            </a:r>
          </a:p>
        </p:txBody>
      </p:sp>
      <p:sp>
        <p:nvSpPr>
          <p:cNvPr id="8" name="TextBox 7"/>
          <p:cNvSpPr txBox="1"/>
          <p:nvPr/>
        </p:nvSpPr>
        <p:spPr>
          <a:xfrm>
            <a:off x="1828800" y="1417320"/>
            <a:ext cx="8686800" cy="777240"/>
          </a:xfrm>
          <a:prstGeom prst="rect">
            <a:avLst/>
          </a:prstGeom>
          <a:noFill/>
        </p:spPr>
        <p:txBody>
          <a:bodyPr wrap="square">
            <a:normAutofit fontScale="85000" lnSpcReduction="20000"/>
          </a:bodyPr>
          <a:lstStyle/>
          <a:p>
            <a:pPr algn="l"/>
            <a:r>
              <a:rPr lang="vi-VN" sz="2100" b="1" dirty="0">
                <a:solidFill>
                  <a:srgbClr val="142A41"/>
                </a:solidFill>
                <a:latin typeface="Consolas"/>
              </a:rPr>
              <a:t>Giao hàng nhanh, đóng gói cũng đc tuy nhiên ốp bị ố ở viền , k lau sạch được ! Ốp cũng k ôm hết máy ! Bửa nhẹ phần viền để ốp máy vào thì bung! Hơi thất vọng!</a:t>
            </a:r>
            <a:endParaRPr sz="2100" b="1" dirty="0">
              <a:solidFill>
                <a:srgbClr val="142A41"/>
              </a:solidFill>
              <a:latin typeface="Consolas"/>
            </a:endParaRPr>
          </a:p>
        </p:txBody>
      </p:sp>
      <p:graphicFrame>
        <p:nvGraphicFramePr>
          <p:cNvPr id="9" name="Table 8"/>
          <p:cNvGraphicFramePr>
            <a:graphicFrameLocks noGrp="1"/>
          </p:cNvGraphicFramePr>
          <p:nvPr>
            <p:extLst>
              <p:ext uri="{D42A27DB-BD31-4B8C-83A1-F6EECF244321}">
                <p14:modId xmlns:p14="http://schemas.microsoft.com/office/powerpoint/2010/main" val="4087847612"/>
              </p:ext>
            </p:extLst>
          </p:nvPr>
        </p:nvGraphicFramePr>
        <p:xfrm>
          <a:off x="1325880" y="2743200"/>
          <a:ext cx="9509760" cy="15163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tblGrid>
              <a:tr h="373380">
                <a:tc>
                  <a:txBody>
                    <a:bodyPr/>
                    <a:lstStyle/>
                    <a:p>
                      <a:pPr>
                        <a:defRPr sz="1100" b="1">
                          <a:solidFill>
                            <a:srgbClr val="FFFFFF"/>
                          </a:solidFill>
                          <a:latin typeface="Arial"/>
                        </a:defRPr>
                      </a:pPr>
                      <a:r>
                        <a:t>Field</a:t>
                      </a:r>
                    </a:p>
                  </a:txBody>
                  <a:tcPr>
                    <a:solidFill>
                      <a:srgbClr val="142A41"/>
                    </a:solidFill>
                  </a:tcPr>
                </a:tc>
                <a:tc>
                  <a:txBody>
                    <a:bodyPr/>
                    <a:lstStyle/>
                    <a:p>
                      <a:pPr>
                        <a:defRPr sz="1100" b="1">
                          <a:solidFill>
                            <a:srgbClr val="FFFFFF"/>
                          </a:solidFill>
                          <a:latin typeface="Arial"/>
                        </a:defRPr>
                      </a:pPr>
                      <a:r>
                        <a:t>Output</a:t>
                      </a:r>
                    </a:p>
                  </a:txBody>
                  <a:tcPr>
                    <a:solidFill>
                      <a:srgbClr val="142A41"/>
                    </a:solidFill>
                  </a:tcPr>
                </a:tc>
                <a:extLst>
                  <a:ext uri="{0D108BD9-81ED-4DB2-BD59-A6C34878D82A}">
                    <a16:rowId xmlns:a16="http://schemas.microsoft.com/office/drawing/2014/main" val="10000"/>
                  </a:ext>
                </a:extLst>
              </a:tr>
              <a:tr h="373380">
                <a:tc>
                  <a:txBody>
                    <a:bodyPr/>
                    <a:lstStyle/>
                    <a:p>
                      <a:pPr>
                        <a:defRPr sz="1100" b="0">
                          <a:solidFill>
                            <a:srgbClr val="0F172A"/>
                          </a:solidFill>
                          <a:latin typeface="Arial"/>
                        </a:defRPr>
                      </a:pPr>
                      <a:r>
                        <a:t>Processed text</a:t>
                      </a:r>
                    </a:p>
                  </a:txBody>
                  <a:tcPr>
                    <a:solidFill>
                      <a:srgbClr val="F8FAFC"/>
                    </a:solidFill>
                  </a:tcPr>
                </a:tc>
                <a:tc>
                  <a:txBody>
                    <a:bodyPr/>
                    <a:lstStyle/>
                    <a:p>
                      <a:pPr>
                        <a:defRPr sz="1000" b="0">
                          <a:solidFill>
                            <a:srgbClr val="0F172A"/>
                          </a:solidFill>
                          <a:latin typeface="Arial"/>
                        </a:defRPr>
                      </a:pPr>
                      <a:r>
                        <a:rPr lang="vi-VN" dirty="0"/>
                        <a:t>giao hàng nhanh đóng gói cũng duoc tuy nhiên ốp bị ố ở viền khong lau sạch duoc ốp cũng khong ôm hết máy bửa nhẹ phần viền để ốp máy vào thì bung hơi thất vọng</a:t>
                      </a:r>
                      <a:endParaRPr dirty="0"/>
                    </a:p>
                  </a:txBody>
                  <a:tcPr>
                    <a:solidFill>
                      <a:srgbClr val="F8FAFC"/>
                    </a:solidFill>
                  </a:tcPr>
                </a:tc>
                <a:extLst>
                  <a:ext uri="{0D108BD9-81ED-4DB2-BD59-A6C34878D82A}">
                    <a16:rowId xmlns:a16="http://schemas.microsoft.com/office/drawing/2014/main" val="10001"/>
                  </a:ext>
                </a:extLst>
              </a:tr>
              <a:tr h="373380">
                <a:tc>
                  <a:txBody>
                    <a:bodyPr/>
                    <a:lstStyle/>
                    <a:p>
                      <a:pPr>
                        <a:defRPr sz="1100" b="0">
                          <a:solidFill>
                            <a:srgbClr val="0F172A"/>
                          </a:solidFill>
                          <a:latin typeface="Arial"/>
                        </a:defRPr>
                      </a:pPr>
                      <a:r>
                        <a:t>Sentiment</a:t>
                      </a:r>
                    </a:p>
                  </a:txBody>
                  <a:tcPr>
                    <a:solidFill>
                      <a:srgbClr val="FFFFFF"/>
                    </a:solidFill>
                  </a:tcPr>
                </a:tc>
                <a:tc>
                  <a:txBody>
                    <a:bodyPr/>
                    <a:lstStyle/>
                    <a:p>
                      <a:pPr>
                        <a:defRPr sz="1100" b="0">
                          <a:solidFill>
                            <a:srgbClr val="0F172A"/>
                          </a:solidFill>
                          <a:latin typeface="Arial"/>
                        </a:defRPr>
                      </a:pPr>
                      <a:r>
                        <a:t>negative</a:t>
                      </a:r>
                    </a:p>
                  </a:txBody>
                  <a:tcPr>
                    <a:solidFill>
                      <a:srgbClr val="FFFFFF"/>
                    </a:solidFill>
                  </a:tcPr>
                </a:tc>
                <a:extLst>
                  <a:ext uri="{0D108BD9-81ED-4DB2-BD59-A6C34878D82A}">
                    <a16:rowId xmlns:a16="http://schemas.microsoft.com/office/drawing/2014/main" val="10002"/>
                  </a:ext>
                </a:extLst>
              </a:tr>
              <a:tr h="373380">
                <a:tc>
                  <a:txBody>
                    <a:bodyPr/>
                    <a:lstStyle/>
                    <a:p>
                      <a:pPr>
                        <a:defRPr sz="1100" b="0">
                          <a:solidFill>
                            <a:srgbClr val="0F172A"/>
                          </a:solidFill>
                          <a:latin typeface="Arial"/>
                        </a:defRPr>
                      </a:pPr>
                      <a:r>
                        <a:rPr dirty="0"/>
                        <a:t>Issue</a:t>
                      </a:r>
                    </a:p>
                  </a:txBody>
                  <a:tcPr>
                    <a:solidFill>
                      <a:srgbClr val="F8FAFC"/>
                    </a:solidFill>
                  </a:tcPr>
                </a:tc>
                <a:tc>
                  <a:txBody>
                    <a:bodyPr/>
                    <a:lstStyle/>
                    <a:p>
                      <a:pPr>
                        <a:defRPr sz="1100" b="0">
                          <a:solidFill>
                            <a:srgbClr val="0F172A"/>
                          </a:solidFill>
                          <a:latin typeface="Arial"/>
                        </a:defRPr>
                      </a:pPr>
                      <a:r>
                        <a:rPr lang="en-US" dirty="0" err="1"/>
                        <a:t>product_quality</a:t>
                      </a:r>
                      <a:endParaRPr dirty="0"/>
                    </a:p>
                  </a:txBody>
                  <a:tcPr>
                    <a:solidFill>
                      <a:srgbClr val="F8FAFC"/>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72754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9509760" cy="502920"/>
          </a:xfrm>
          <a:prstGeom prst="rect">
            <a:avLst/>
          </a:prstGeom>
          <a:noFill/>
        </p:spPr>
        <p:txBody>
          <a:bodyPr wrap="square">
            <a:normAutofit lnSpcReduction="10000"/>
          </a:bodyPr>
          <a:lstStyle/>
          <a:p>
            <a:pPr algn="l"/>
            <a:r>
              <a:rPr sz="2800" b="1">
                <a:solidFill>
                  <a:srgbClr val="142A41"/>
                </a:solidFill>
                <a:latin typeface="Arial"/>
              </a:rPr>
              <a:t>Conclusion</a:t>
            </a:r>
          </a:p>
        </p:txBody>
      </p:sp>
      <p:sp>
        <p:nvSpPr>
          <p:cNvPr id="4" name="TextBox 3"/>
          <p:cNvSpPr txBox="1"/>
          <p:nvPr/>
        </p:nvSpPr>
        <p:spPr>
          <a:xfrm>
            <a:off x="10972800" y="347472"/>
            <a:ext cx="685800" cy="274320"/>
          </a:xfrm>
          <a:prstGeom prst="rect">
            <a:avLst/>
          </a:prstGeom>
          <a:noFill/>
        </p:spPr>
        <p:txBody>
          <a:bodyPr wrap="square">
            <a:normAutofit/>
          </a:bodyPr>
          <a:lstStyle/>
          <a:p>
            <a:pPr algn="r"/>
            <a:r>
              <a:rPr sz="1000" b="0">
                <a:solidFill>
                  <a:srgbClr val="475569"/>
                </a:solidFill>
                <a:latin typeface="Arial"/>
              </a:rPr>
              <a:t>15/15</a:t>
            </a:r>
          </a:p>
        </p:txBody>
      </p:sp>
      <p:sp>
        <p:nvSpPr>
          <p:cNvPr id="5" name="TextBox 4"/>
          <p:cNvSpPr txBox="1"/>
          <p:nvPr/>
        </p:nvSpPr>
        <p:spPr>
          <a:xfrm>
            <a:off x="502920" y="6510528"/>
            <a:ext cx="2011680" cy="182880"/>
          </a:xfrm>
          <a:prstGeom prst="rect">
            <a:avLst/>
          </a:prstGeom>
          <a:noFill/>
        </p:spPr>
        <p:txBody>
          <a:bodyPr wrap="square">
            <a:normAutofit fontScale="77500" lnSpcReduction="20000"/>
          </a:bodyPr>
          <a:lstStyle/>
          <a:p>
            <a:pPr algn="l"/>
            <a:r>
              <a:rPr sz="900" b="0">
                <a:solidFill>
                  <a:srgbClr val="475569"/>
                </a:solidFill>
                <a:latin typeface="Arial"/>
              </a:rPr>
              <a:t>AIMiniProject</a:t>
            </a:r>
          </a:p>
        </p:txBody>
      </p:sp>
      <p:sp>
        <p:nvSpPr>
          <p:cNvPr id="6" name="Rounded Rectangle 5"/>
          <p:cNvSpPr/>
          <p:nvPr/>
        </p:nvSpPr>
        <p:spPr>
          <a:xfrm>
            <a:off x="685800" y="1143000"/>
            <a:ext cx="5303520" cy="48920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63640" y="1143000"/>
            <a:ext cx="5257800" cy="48920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417320"/>
            <a:ext cx="4754880" cy="4297680"/>
          </a:xfrm>
          <a:prstGeom prst="rect">
            <a:avLst/>
          </a:prstGeom>
          <a:noFill/>
        </p:spPr>
        <p:txBody>
          <a:bodyPr wrap="square">
            <a:normAutofit/>
          </a:bodyPr>
          <a:lstStyle/>
          <a:p>
            <a:pPr>
              <a:defRPr sz="1700">
                <a:solidFill>
                  <a:srgbClr val="0F172A"/>
                </a:solidFill>
                <a:latin typeface="Arial"/>
              </a:defRPr>
            </a:pPr>
            <a:r>
              <a:rPr dirty="0">
                <a:latin typeface="Arial"/>
              </a:rPr>
              <a:t>• Project </a:t>
            </a:r>
            <a:r>
              <a:rPr dirty="0" err="1">
                <a:latin typeface="Arial"/>
              </a:rPr>
              <a:t>đã</a:t>
            </a:r>
            <a:r>
              <a:rPr dirty="0">
                <a:latin typeface="Arial"/>
              </a:rPr>
              <a:t> </a:t>
            </a:r>
            <a:r>
              <a:rPr dirty="0" err="1">
                <a:latin typeface="Arial"/>
              </a:rPr>
              <a:t>xây</a:t>
            </a:r>
            <a:r>
              <a:rPr dirty="0">
                <a:latin typeface="Arial"/>
              </a:rPr>
              <a:t> </a:t>
            </a:r>
            <a:r>
              <a:rPr dirty="0" err="1">
                <a:latin typeface="Arial"/>
              </a:rPr>
              <a:t>dựng</a:t>
            </a:r>
            <a:r>
              <a:rPr dirty="0">
                <a:latin typeface="Arial"/>
              </a:rPr>
              <a:t> </a:t>
            </a:r>
            <a:r>
              <a:rPr dirty="0" err="1">
                <a:latin typeface="Arial"/>
              </a:rPr>
              <a:t>một</a:t>
            </a:r>
            <a:r>
              <a:rPr dirty="0">
                <a:latin typeface="Arial"/>
              </a:rPr>
              <a:t> pipeline </a:t>
            </a:r>
            <a:r>
              <a:rPr dirty="0" err="1">
                <a:latin typeface="Arial"/>
              </a:rPr>
              <a:t>hoàn</a:t>
            </a:r>
            <a:r>
              <a:rPr dirty="0">
                <a:latin typeface="Arial"/>
              </a:rPr>
              <a:t> </a:t>
            </a:r>
            <a:r>
              <a:rPr dirty="0" err="1">
                <a:latin typeface="Arial"/>
              </a:rPr>
              <a:t>chỉnh</a:t>
            </a:r>
            <a:r>
              <a:rPr dirty="0">
                <a:latin typeface="Arial"/>
              </a:rPr>
              <a:t> </a:t>
            </a:r>
            <a:r>
              <a:rPr dirty="0" err="1">
                <a:latin typeface="Arial"/>
              </a:rPr>
              <a:t>để</a:t>
            </a:r>
            <a:r>
              <a:rPr dirty="0">
                <a:latin typeface="Arial"/>
              </a:rPr>
              <a:t> </a:t>
            </a:r>
            <a:r>
              <a:rPr dirty="0" err="1">
                <a:latin typeface="Arial"/>
              </a:rPr>
              <a:t>phân</a:t>
            </a:r>
            <a:r>
              <a:rPr dirty="0">
                <a:latin typeface="Arial"/>
              </a:rPr>
              <a:t> </a:t>
            </a:r>
            <a:r>
              <a:rPr dirty="0" err="1">
                <a:latin typeface="Arial"/>
              </a:rPr>
              <a:t>loại</a:t>
            </a:r>
            <a:r>
              <a:rPr dirty="0">
                <a:latin typeface="Arial"/>
              </a:rPr>
              <a:t> </a:t>
            </a:r>
            <a:r>
              <a:rPr dirty="0" err="1">
                <a:latin typeface="Arial"/>
              </a:rPr>
              <a:t>bình</a:t>
            </a:r>
            <a:r>
              <a:rPr dirty="0">
                <a:latin typeface="Arial"/>
              </a:rPr>
              <a:t> </a:t>
            </a:r>
            <a:r>
              <a:rPr dirty="0" err="1">
                <a:latin typeface="Arial"/>
              </a:rPr>
              <a:t>luận</a:t>
            </a:r>
            <a:r>
              <a:rPr dirty="0">
                <a:latin typeface="Arial"/>
              </a:rPr>
              <a:t> Shopee.</a:t>
            </a:r>
          </a:p>
          <a:p>
            <a:pPr>
              <a:defRPr sz="1700">
                <a:solidFill>
                  <a:srgbClr val="0F172A"/>
                </a:solidFill>
                <a:latin typeface="Arial"/>
              </a:defRPr>
            </a:pPr>
            <a:r>
              <a:rPr dirty="0">
                <a:latin typeface="Arial"/>
              </a:rPr>
              <a:t>• TF-IDF + Linear SVM </a:t>
            </a:r>
            <a:r>
              <a:rPr dirty="0" err="1">
                <a:latin typeface="Arial"/>
              </a:rPr>
              <a:t>hoạt</a:t>
            </a:r>
            <a:r>
              <a:rPr dirty="0">
                <a:latin typeface="Arial"/>
              </a:rPr>
              <a:t> </a:t>
            </a:r>
            <a:r>
              <a:rPr dirty="0" err="1">
                <a:latin typeface="Arial"/>
              </a:rPr>
              <a:t>động</a:t>
            </a:r>
            <a:r>
              <a:rPr dirty="0">
                <a:latin typeface="Arial"/>
              </a:rPr>
              <a:t> </a:t>
            </a:r>
            <a:r>
              <a:rPr dirty="0" err="1">
                <a:latin typeface="Arial"/>
              </a:rPr>
              <a:t>tốt</a:t>
            </a:r>
            <a:r>
              <a:rPr dirty="0">
                <a:latin typeface="Arial"/>
              </a:rPr>
              <a:t> </a:t>
            </a:r>
            <a:r>
              <a:rPr dirty="0" err="1">
                <a:latin typeface="Arial"/>
              </a:rPr>
              <a:t>cho</a:t>
            </a:r>
            <a:r>
              <a:rPr dirty="0">
                <a:latin typeface="Arial"/>
              </a:rPr>
              <a:t> </a:t>
            </a:r>
            <a:r>
              <a:rPr dirty="0" err="1">
                <a:latin typeface="Arial"/>
              </a:rPr>
              <a:t>cả</a:t>
            </a:r>
            <a:r>
              <a:rPr dirty="0">
                <a:latin typeface="Arial"/>
              </a:rPr>
              <a:t> sentiment </a:t>
            </a:r>
            <a:r>
              <a:rPr dirty="0" err="1">
                <a:latin typeface="Arial"/>
              </a:rPr>
              <a:t>và</a:t>
            </a:r>
            <a:r>
              <a:rPr dirty="0">
                <a:latin typeface="Arial"/>
              </a:rPr>
              <a:t> issue classification.</a:t>
            </a:r>
          </a:p>
          <a:p>
            <a:pPr>
              <a:defRPr sz="1700">
                <a:solidFill>
                  <a:srgbClr val="0F172A"/>
                </a:solidFill>
                <a:latin typeface="Arial"/>
              </a:defRPr>
            </a:pPr>
            <a:r>
              <a:rPr dirty="0">
                <a:latin typeface="Arial"/>
              </a:rPr>
              <a:t>• Safe issue rules </a:t>
            </a:r>
            <a:r>
              <a:rPr dirty="0" err="1">
                <a:latin typeface="Arial"/>
              </a:rPr>
              <a:t>giúp</a:t>
            </a:r>
            <a:r>
              <a:rPr dirty="0">
                <a:latin typeface="Arial"/>
              </a:rPr>
              <a:t> </a:t>
            </a:r>
            <a:r>
              <a:rPr dirty="0" err="1">
                <a:latin typeface="Arial"/>
              </a:rPr>
              <a:t>cải</a:t>
            </a:r>
            <a:r>
              <a:rPr dirty="0">
                <a:latin typeface="Arial"/>
              </a:rPr>
              <a:t> </a:t>
            </a:r>
            <a:r>
              <a:rPr dirty="0" err="1">
                <a:latin typeface="Arial"/>
              </a:rPr>
              <a:t>thiện</a:t>
            </a:r>
            <a:r>
              <a:rPr dirty="0">
                <a:latin typeface="Arial"/>
              </a:rPr>
              <a:t> </a:t>
            </a:r>
            <a:r>
              <a:rPr dirty="0" err="1">
                <a:latin typeface="Arial"/>
              </a:rPr>
              <a:t>kết</a:t>
            </a:r>
            <a:r>
              <a:rPr dirty="0">
                <a:latin typeface="Arial"/>
              </a:rPr>
              <a:t> </a:t>
            </a:r>
            <a:r>
              <a:rPr dirty="0" err="1">
                <a:latin typeface="Arial"/>
              </a:rPr>
              <a:t>quả</a:t>
            </a:r>
            <a:r>
              <a:rPr dirty="0">
                <a:latin typeface="Arial"/>
              </a:rPr>
              <a:t> issue classification </a:t>
            </a:r>
            <a:r>
              <a:rPr dirty="0" err="1">
                <a:latin typeface="Arial"/>
              </a:rPr>
              <a:t>cuối</a:t>
            </a:r>
            <a:r>
              <a:rPr dirty="0">
                <a:latin typeface="Arial"/>
              </a:rPr>
              <a:t>.</a:t>
            </a:r>
          </a:p>
          <a:p>
            <a:pPr>
              <a:defRPr sz="1700">
                <a:solidFill>
                  <a:srgbClr val="0F172A"/>
                </a:solidFill>
                <a:latin typeface="Arial"/>
              </a:defRPr>
            </a:pPr>
            <a:r>
              <a:rPr dirty="0">
                <a:latin typeface="Arial"/>
              </a:rPr>
              <a:t>• </a:t>
            </a:r>
            <a:r>
              <a:rPr dirty="0" err="1">
                <a:latin typeface="Arial"/>
              </a:rPr>
              <a:t>Giới</a:t>
            </a:r>
            <a:r>
              <a:rPr dirty="0">
                <a:latin typeface="Arial"/>
              </a:rPr>
              <a:t> </a:t>
            </a:r>
            <a:r>
              <a:rPr dirty="0" err="1">
                <a:latin typeface="Arial"/>
              </a:rPr>
              <a:t>hạn</a:t>
            </a:r>
            <a:r>
              <a:rPr dirty="0">
                <a:latin typeface="Arial"/>
              </a:rPr>
              <a:t> </a:t>
            </a:r>
            <a:r>
              <a:rPr dirty="0" err="1">
                <a:latin typeface="Arial"/>
              </a:rPr>
              <a:t>hiện</a:t>
            </a:r>
            <a:r>
              <a:rPr dirty="0">
                <a:latin typeface="Arial"/>
              </a:rPr>
              <a:t> </a:t>
            </a:r>
            <a:r>
              <a:rPr dirty="0" err="1">
                <a:latin typeface="Arial"/>
              </a:rPr>
              <a:t>tại</a:t>
            </a:r>
            <a:r>
              <a:rPr dirty="0">
                <a:latin typeface="Arial"/>
              </a:rPr>
              <a:t>:</a:t>
            </a:r>
          </a:p>
          <a:p>
            <a:pPr lvl="1">
              <a:defRPr sz="1500">
                <a:solidFill>
                  <a:srgbClr val="475569"/>
                </a:solidFill>
                <a:latin typeface="Arial"/>
              </a:defRPr>
            </a:pPr>
            <a:r>
              <a:rPr dirty="0">
                <a:latin typeface="Arial"/>
              </a:rPr>
              <a:t>• Issue </a:t>
            </a:r>
            <a:r>
              <a:rPr dirty="0" err="1">
                <a:latin typeface="Arial"/>
              </a:rPr>
              <a:t>đang</a:t>
            </a:r>
            <a:r>
              <a:rPr dirty="0">
                <a:latin typeface="Arial"/>
              </a:rPr>
              <a:t> </a:t>
            </a:r>
            <a:r>
              <a:rPr dirty="0" err="1">
                <a:latin typeface="Arial"/>
              </a:rPr>
              <a:t>là</a:t>
            </a:r>
            <a:r>
              <a:rPr dirty="0">
                <a:latin typeface="Arial"/>
              </a:rPr>
              <a:t> single-label.</a:t>
            </a:r>
          </a:p>
          <a:p>
            <a:pPr lvl="1">
              <a:defRPr sz="1500">
                <a:solidFill>
                  <a:srgbClr val="475569"/>
                </a:solidFill>
                <a:latin typeface="Arial"/>
              </a:defRPr>
            </a:pPr>
            <a:r>
              <a:rPr dirty="0">
                <a:latin typeface="Arial"/>
              </a:rPr>
              <a:t>• </a:t>
            </a:r>
            <a:r>
              <a:rPr dirty="0" err="1">
                <a:latin typeface="Arial"/>
              </a:rPr>
              <a:t>Một</a:t>
            </a:r>
            <a:r>
              <a:rPr dirty="0">
                <a:latin typeface="Arial"/>
              </a:rPr>
              <a:t> </a:t>
            </a:r>
            <a:r>
              <a:rPr dirty="0" err="1">
                <a:latin typeface="Arial"/>
              </a:rPr>
              <a:t>số</a:t>
            </a:r>
            <a:r>
              <a:rPr dirty="0">
                <a:latin typeface="Arial"/>
              </a:rPr>
              <a:t> </a:t>
            </a:r>
            <a:r>
              <a:rPr dirty="0" err="1">
                <a:latin typeface="Arial"/>
              </a:rPr>
              <a:t>lớp</a:t>
            </a:r>
            <a:r>
              <a:rPr dirty="0">
                <a:latin typeface="Arial"/>
              </a:rPr>
              <a:t> </a:t>
            </a:r>
            <a:r>
              <a:rPr dirty="0" err="1">
                <a:latin typeface="Arial"/>
              </a:rPr>
              <a:t>có</a:t>
            </a:r>
            <a:r>
              <a:rPr dirty="0">
                <a:latin typeface="Arial"/>
              </a:rPr>
              <a:t> </a:t>
            </a:r>
            <a:r>
              <a:rPr dirty="0" err="1">
                <a:latin typeface="Arial"/>
              </a:rPr>
              <a:t>ít</a:t>
            </a:r>
            <a:r>
              <a:rPr dirty="0">
                <a:latin typeface="Arial"/>
              </a:rPr>
              <a:t> </a:t>
            </a:r>
            <a:r>
              <a:rPr dirty="0" err="1">
                <a:latin typeface="Arial"/>
              </a:rPr>
              <a:t>dữ</a:t>
            </a:r>
            <a:r>
              <a:rPr dirty="0">
                <a:latin typeface="Arial"/>
              </a:rPr>
              <a:t> </a:t>
            </a:r>
            <a:r>
              <a:rPr dirty="0" err="1">
                <a:latin typeface="Arial"/>
              </a:rPr>
              <a:t>liệu</a:t>
            </a:r>
            <a:r>
              <a:rPr dirty="0">
                <a:latin typeface="Arial"/>
              </a:rPr>
              <a:t>.</a:t>
            </a:r>
          </a:p>
        </p:txBody>
      </p:sp>
      <p:sp>
        <p:nvSpPr>
          <p:cNvPr id="9" name="TextBox 8"/>
          <p:cNvSpPr txBox="1"/>
          <p:nvPr/>
        </p:nvSpPr>
        <p:spPr>
          <a:xfrm>
            <a:off x="6537960" y="1417320"/>
            <a:ext cx="4663440" cy="4297680"/>
          </a:xfrm>
          <a:prstGeom prst="rect">
            <a:avLst/>
          </a:prstGeom>
          <a:noFill/>
        </p:spPr>
        <p:txBody>
          <a:bodyPr wrap="square">
            <a:normAutofit/>
          </a:bodyPr>
          <a:lstStyle/>
          <a:p>
            <a:pPr lvl="1">
              <a:defRPr sz="1500">
                <a:solidFill>
                  <a:srgbClr val="475569"/>
                </a:solidFill>
                <a:latin typeface="Arial"/>
              </a:defRPr>
            </a:pPr>
            <a:r>
              <a:rPr dirty="0">
                <a:latin typeface="Arial"/>
              </a:rPr>
              <a:t>• Neutral sentiment </a:t>
            </a:r>
            <a:r>
              <a:rPr dirty="0" err="1">
                <a:latin typeface="Arial"/>
              </a:rPr>
              <a:t>vẫn</a:t>
            </a:r>
            <a:r>
              <a:rPr dirty="0">
                <a:latin typeface="Arial"/>
              </a:rPr>
              <a:t> </a:t>
            </a:r>
            <a:r>
              <a:rPr dirty="0" err="1">
                <a:latin typeface="Arial"/>
              </a:rPr>
              <a:t>khó</a:t>
            </a:r>
            <a:r>
              <a:rPr dirty="0">
                <a:latin typeface="Arial"/>
              </a:rPr>
              <a:t>.</a:t>
            </a:r>
          </a:p>
          <a:p>
            <a:pPr>
              <a:defRPr sz="1700">
                <a:solidFill>
                  <a:srgbClr val="0F172A"/>
                </a:solidFill>
                <a:latin typeface="Arial"/>
              </a:defRPr>
            </a:pPr>
            <a:r>
              <a:rPr dirty="0">
                <a:latin typeface="Arial"/>
              </a:rPr>
              <a:t>• </a:t>
            </a:r>
            <a:r>
              <a:rPr dirty="0" err="1">
                <a:latin typeface="Arial"/>
              </a:rPr>
              <a:t>Hướng</a:t>
            </a:r>
            <a:r>
              <a:rPr dirty="0">
                <a:latin typeface="Arial"/>
              </a:rPr>
              <a:t> </a:t>
            </a:r>
            <a:r>
              <a:rPr dirty="0" err="1">
                <a:latin typeface="Arial"/>
              </a:rPr>
              <a:t>phát</a:t>
            </a:r>
            <a:r>
              <a:rPr dirty="0">
                <a:latin typeface="Arial"/>
              </a:rPr>
              <a:t> </a:t>
            </a:r>
            <a:r>
              <a:rPr dirty="0" err="1">
                <a:latin typeface="Arial"/>
              </a:rPr>
              <a:t>triển</a:t>
            </a:r>
            <a:r>
              <a:rPr dirty="0">
                <a:latin typeface="Arial"/>
              </a:rPr>
              <a:t>:</a:t>
            </a:r>
          </a:p>
          <a:p>
            <a:pPr lvl="1">
              <a:defRPr sz="1500">
                <a:solidFill>
                  <a:srgbClr val="475569"/>
                </a:solidFill>
                <a:latin typeface="Arial"/>
              </a:defRPr>
            </a:pPr>
            <a:r>
              <a:rPr dirty="0">
                <a:latin typeface="Arial"/>
              </a:rPr>
              <a:t>• </a:t>
            </a:r>
            <a:r>
              <a:rPr dirty="0" err="1">
                <a:latin typeface="Arial"/>
              </a:rPr>
              <a:t>Bổ</a:t>
            </a:r>
            <a:r>
              <a:rPr dirty="0">
                <a:latin typeface="Arial"/>
              </a:rPr>
              <a:t> sung </a:t>
            </a:r>
            <a:r>
              <a:rPr dirty="0" err="1">
                <a:latin typeface="Arial"/>
              </a:rPr>
              <a:t>dữ</a:t>
            </a:r>
            <a:r>
              <a:rPr dirty="0">
                <a:latin typeface="Arial"/>
              </a:rPr>
              <a:t> </a:t>
            </a:r>
            <a:r>
              <a:rPr dirty="0" err="1">
                <a:latin typeface="Arial"/>
              </a:rPr>
              <a:t>liệu</a:t>
            </a:r>
            <a:r>
              <a:rPr dirty="0">
                <a:latin typeface="Arial"/>
              </a:rPr>
              <a:t> review </a:t>
            </a:r>
            <a:r>
              <a:rPr dirty="0" err="1">
                <a:latin typeface="Arial"/>
              </a:rPr>
              <a:t>thủ</a:t>
            </a:r>
            <a:r>
              <a:rPr dirty="0">
                <a:latin typeface="Arial"/>
              </a:rPr>
              <a:t> </a:t>
            </a:r>
            <a:r>
              <a:rPr dirty="0" err="1">
                <a:latin typeface="Arial"/>
              </a:rPr>
              <a:t>công</a:t>
            </a:r>
            <a:r>
              <a:rPr dirty="0">
                <a:latin typeface="Arial"/>
              </a:rPr>
              <a:t> </a:t>
            </a:r>
            <a:r>
              <a:rPr dirty="0" err="1">
                <a:latin typeface="Arial"/>
              </a:rPr>
              <a:t>cho</a:t>
            </a:r>
            <a:r>
              <a:rPr dirty="0">
                <a:latin typeface="Arial"/>
              </a:rPr>
              <a:t> </a:t>
            </a:r>
            <a:r>
              <a:rPr dirty="0" err="1">
                <a:latin typeface="Arial"/>
              </a:rPr>
              <a:t>lớp</a:t>
            </a:r>
            <a:r>
              <a:rPr dirty="0">
                <a:latin typeface="Arial"/>
              </a:rPr>
              <a:t> </a:t>
            </a:r>
            <a:r>
              <a:rPr dirty="0" err="1">
                <a:latin typeface="Arial"/>
              </a:rPr>
              <a:t>nhỏ</a:t>
            </a:r>
            <a:r>
              <a:rPr dirty="0">
                <a:latin typeface="Arial"/>
              </a:rPr>
              <a:t>.</a:t>
            </a:r>
          </a:p>
          <a:p>
            <a:pPr lvl="1">
              <a:defRPr sz="1500">
                <a:solidFill>
                  <a:srgbClr val="475569"/>
                </a:solidFill>
                <a:latin typeface="Arial"/>
              </a:defRPr>
            </a:pPr>
            <a:r>
              <a:rPr dirty="0">
                <a:latin typeface="Arial"/>
              </a:rPr>
              <a:t>• </a:t>
            </a:r>
            <a:r>
              <a:rPr dirty="0" err="1">
                <a:latin typeface="Arial"/>
              </a:rPr>
              <a:t>Mở</a:t>
            </a:r>
            <a:r>
              <a:rPr dirty="0">
                <a:latin typeface="Arial"/>
              </a:rPr>
              <a:t> </a:t>
            </a:r>
            <a:r>
              <a:rPr dirty="0" err="1">
                <a:latin typeface="Arial"/>
              </a:rPr>
              <a:t>rộng</a:t>
            </a:r>
            <a:r>
              <a:rPr dirty="0">
                <a:latin typeface="Arial"/>
              </a:rPr>
              <a:t> sang multi-label issue prediction.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668</TotalTime>
  <Words>1719</Words>
  <Application>Microsoft Office PowerPoint</Application>
  <PresentationFormat>Widescreen</PresentationFormat>
  <Paragraphs>281</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Đức Kiên</cp:lastModifiedBy>
  <cp:revision>12</cp:revision>
  <dcterms:created xsi:type="dcterms:W3CDTF">2013-01-27T09:14:16Z</dcterms:created>
  <dcterms:modified xsi:type="dcterms:W3CDTF">2026-05-20T02:26:06Z</dcterms:modified>
  <cp:category/>
</cp:coreProperties>
</file>